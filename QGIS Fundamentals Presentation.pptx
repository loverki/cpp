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y="6858000" cx="12192000"/>
  <p:notesSz cx="6858000" cy="9144000"/>
  <p:embeddedFontLst>
    <p:embeddedFont>
      <p:font typeface="Plus Jakarta Sans ExtraBold"/>
      <p:bold r:id="rId15"/>
      <p:boldItalic r:id="rId16"/>
    </p:embeddedFont>
    <p:embeddedFont>
      <p:font typeface="Inter"/>
      <p:regular r:id="rId17"/>
      <p:bold r:id="rId18"/>
      <p:italic r:id="rId19"/>
      <p:boldItalic r:id="rId20"/>
    </p:embeddedFont>
    <p:embeddedFont>
      <p:font typeface="Plus Jakarta Sans"/>
      <p:regular r:id="rId21"/>
      <p:bold r:id="rId22"/>
      <p:italic r:id="rId23"/>
      <p:boldItalic r:id="rId2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Inter-boldItalic.fntdata"/><Relationship Id="rId11" Type="http://schemas.openxmlformats.org/officeDocument/2006/relationships/slide" Target="slides/slide6.xml"/><Relationship Id="rId22" Type="http://schemas.openxmlformats.org/officeDocument/2006/relationships/font" Target="fonts/PlusJakartaSans-bold.fntdata"/><Relationship Id="rId10" Type="http://schemas.openxmlformats.org/officeDocument/2006/relationships/slide" Target="slides/slide5.xml"/><Relationship Id="rId21" Type="http://schemas.openxmlformats.org/officeDocument/2006/relationships/font" Target="fonts/PlusJakartaSans-regular.fntdata"/><Relationship Id="rId13" Type="http://schemas.openxmlformats.org/officeDocument/2006/relationships/slide" Target="slides/slide8.xml"/><Relationship Id="rId24" Type="http://schemas.openxmlformats.org/officeDocument/2006/relationships/font" Target="fonts/PlusJakartaSans-boldItalic.fntdata"/><Relationship Id="rId12" Type="http://schemas.openxmlformats.org/officeDocument/2006/relationships/slide" Target="slides/slide7.xml"/><Relationship Id="rId23" Type="http://schemas.openxmlformats.org/officeDocument/2006/relationships/font" Target="fonts/PlusJakartaSans-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PlusJakartaSansExtraBold-bold.fntdata"/><Relationship Id="rId14" Type="http://schemas.openxmlformats.org/officeDocument/2006/relationships/slide" Target="slides/slide9.xml"/><Relationship Id="rId17" Type="http://schemas.openxmlformats.org/officeDocument/2006/relationships/font" Target="fonts/Inter-regular.fntdata"/><Relationship Id="rId16" Type="http://schemas.openxmlformats.org/officeDocument/2006/relationships/font" Target="fonts/PlusJakartaSansExtraBold-boldItalic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Inter-italic.fntdata"/><Relationship Id="rId6" Type="http://schemas.openxmlformats.org/officeDocument/2006/relationships/slide" Target="slides/slide1.xml"/><Relationship Id="rId18" Type="http://schemas.openxmlformats.org/officeDocument/2006/relationships/font" Target="fonts/Inter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8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8.png"/><Relationship Id="rId4" Type="http://schemas.openxmlformats.org/officeDocument/2006/relationships/image" Target="../media/image3.png"/><Relationship Id="rId5" Type="http://schemas.openxmlformats.org/officeDocument/2006/relationships/image" Target="../media/image1.png"/><Relationship Id="rId6" Type="http://schemas.openxmlformats.org/officeDocument/2006/relationships/image" Target="../media/image2.png"/><Relationship Id="rId7" Type="http://schemas.openxmlformats.org/officeDocument/2006/relationships/image" Target="../media/image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8.png"/><Relationship Id="rId4" Type="http://schemas.openxmlformats.org/officeDocument/2006/relationships/image" Target="../media/image5.png"/><Relationship Id="rId5" Type="http://schemas.openxmlformats.org/officeDocument/2006/relationships/image" Target="../media/image29.png"/><Relationship Id="rId6" Type="http://schemas.openxmlformats.org/officeDocument/2006/relationships/image" Target="../media/image7.png"/><Relationship Id="rId7" Type="http://schemas.openxmlformats.org/officeDocument/2006/relationships/image" Target="../media/image10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8.png"/><Relationship Id="rId4" Type="http://schemas.openxmlformats.org/officeDocument/2006/relationships/image" Target="../media/image6.png"/><Relationship Id="rId11" Type="http://schemas.openxmlformats.org/officeDocument/2006/relationships/image" Target="../media/image16.png"/><Relationship Id="rId10" Type="http://schemas.openxmlformats.org/officeDocument/2006/relationships/image" Target="../media/image27.png"/><Relationship Id="rId12" Type="http://schemas.openxmlformats.org/officeDocument/2006/relationships/image" Target="../media/image12.png"/><Relationship Id="rId9" Type="http://schemas.openxmlformats.org/officeDocument/2006/relationships/image" Target="../media/image11.png"/><Relationship Id="rId5" Type="http://schemas.openxmlformats.org/officeDocument/2006/relationships/image" Target="../media/image9.png"/><Relationship Id="rId6" Type="http://schemas.openxmlformats.org/officeDocument/2006/relationships/image" Target="../media/image28.png"/><Relationship Id="rId7" Type="http://schemas.openxmlformats.org/officeDocument/2006/relationships/image" Target="../media/image13.png"/><Relationship Id="rId8" Type="http://schemas.openxmlformats.org/officeDocument/2006/relationships/image" Target="../media/image2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8.png"/><Relationship Id="rId4" Type="http://schemas.openxmlformats.org/officeDocument/2006/relationships/image" Target="../media/image14.png"/><Relationship Id="rId10" Type="http://schemas.openxmlformats.org/officeDocument/2006/relationships/image" Target="../media/image20.png"/><Relationship Id="rId9" Type="http://schemas.openxmlformats.org/officeDocument/2006/relationships/image" Target="../media/image21.png"/><Relationship Id="rId5" Type="http://schemas.openxmlformats.org/officeDocument/2006/relationships/image" Target="../media/image15.png"/><Relationship Id="rId6" Type="http://schemas.openxmlformats.org/officeDocument/2006/relationships/image" Target="../media/image13.png"/><Relationship Id="rId7" Type="http://schemas.openxmlformats.org/officeDocument/2006/relationships/image" Target="../media/image17.png"/><Relationship Id="rId8" Type="http://schemas.openxmlformats.org/officeDocument/2006/relationships/image" Target="../media/image18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8.png"/><Relationship Id="rId4" Type="http://schemas.openxmlformats.org/officeDocument/2006/relationships/image" Target="../media/image2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8.png"/><Relationship Id="rId4" Type="http://schemas.openxmlformats.org/officeDocument/2006/relationships/image" Target="../media/image6.png"/><Relationship Id="rId11" Type="http://schemas.openxmlformats.org/officeDocument/2006/relationships/image" Target="../media/image19.png"/><Relationship Id="rId10" Type="http://schemas.openxmlformats.org/officeDocument/2006/relationships/image" Target="../media/image23.png"/><Relationship Id="rId12" Type="http://schemas.openxmlformats.org/officeDocument/2006/relationships/image" Target="../media/image25.png"/><Relationship Id="rId9" Type="http://schemas.openxmlformats.org/officeDocument/2006/relationships/image" Target="../media/image11.png"/><Relationship Id="rId5" Type="http://schemas.openxmlformats.org/officeDocument/2006/relationships/image" Target="../media/image9.png"/><Relationship Id="rId6" Type="http://schemas.openxmlformats.org/officeDocument/2006/relationships/image" Target="../media/image28.png"/><Relationship Id="rId7" Type="http://schemas.openxmlformats.org/officeDocument/2006/relationships/image" Target="../media/image13.png"/><Relationship Id="rId8" Type="http://schemas.openxmlformats.org/officeDocument/2006/relationships/image" Target="../media/image2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8.png"/><Relationship Id="rId4" Type="http://schemas.openxmlformats.org/officeDocument/2006/relationships/image" Target="../media/image2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8.png"/><Relationship Id="rId4" Type="http://schemas.openxmlformats.org/officeDocument/2006/relationships/image" Target="../media/image26.png"/><Relationship Id="rId5" Type="http://schemas.openxmlformats.org/officeDocument/2006/relationships/image" Target="../media/image31.png"/><Relationship Id="rId6" Type="http://schemas.openxmlformats.org/officeDocument/2006/relationships/image" Target="../media/image30.png"/><Relationship Id="rId7" Type="http://schemas.openxmlformats.org/officeDocument/2006/relationships/image" Target="../media/image3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F1C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2245518" y="2441376"/>
            <a:ext cx="7700962" cy="7542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400" u="none" cap="none" strike="noStrike">
                <a:solidFill>
                  <a:srgbClr val="FFFFFF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Fundamentals of </a:t>
            </a:r>
            <a:r>
              <a:rPr b="0" i="0" lang="en-US" sz="5400" u="none" cap="none" strike="noStrike">
                <a:solidFill>
                  <a:srgbClr val="00F0FF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QGIS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1809750" y="3481387"/>
            <a:ext cx="8572500" cy="792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A Comprehensive Overview of GIS Workflows, Spatial Analysis, and Map Production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F1C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1" name="Google Shape;91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2" name="Google Shape;92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284386"/>
            <a:ext cx="5381625" cy="54131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3" name="Google Shape;93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38875" y="1284386"/>
            <a:ext cx="5381625" cy="54131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4" name="Google Shape;94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57275" y="1770161"/>
            <a:ext cx="7620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14"/>
          <p:cNvSpPr txBox="1"/>
          <p:nvPr/>
        </p:nvSpPr>
        <p:spPr>
          <a:xfrm>
            <a:off x="1057275" y="2770286"/>
            <a:ext cx="1860232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Vector Data</a:t>
            </a:r>
            <a:endParaRPr/>
          </a:p>
        </p:txBody>
      </p:sp>
      <p:sp>
        <p:nvSpPr>
          <p:cNvPr id="96" name="Google Shape;96;p14"/>
          <p:cNvSpPr txBox="1"/>
          <p:nvPr/>
        </p:nvSpPr>
        <p:spPr>
          <a:xfrm>
            <a:off x="1057275" y="3294161"/>
            <a:ext cx="4410075" cy="670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Represents discrete real-world features using precise geometric coordinates.</a:t>
            </a:r>
            <a:endParaRPr/>
          </a:p>
        </p:txBody>
      </p:sp>
      <p:sp>
        <p:nvSpPr>
          <p:cNvPr id="97" name="Google Shape;97;p14"/>
          <p:cNvSpPr txBox="1"/>
          <p:nvPr/>
        </p:nvSpPr>
        <p:spPr>
          <a:xfrm>
            <a:off x="1057275" y="4107358"/>
            <a:ext cx="4410075" cy="670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Structure:</a:t>
            </a:r>
            <a:r>
              <a:rPr b="0" i="0" lang="en-US" sz="16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Points (cities), Lines (roads), Polygons (boundaries).</a:t>
            </a:r>
            <a:endParaRPr/>
          </a:p>
        </p:txBody>
      </p:sp>
      <p:sp>
        <p:nvSpPr>
          <p:cNvPr id="98" name="Google Shape;98;p14"/>
          <p:cNvSpPr txBox="1"/>
          <p:nvPr/>
        </p:nvSpPr>
        <p:spPr>
          <a:xfrm>
            <a:off x="1057275" y="4920555"/>
            <a:ext cx="4410075" cy="670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Formats:</a:t>
            </a:r>
            <a:r>
              <a:rPr b="0" i="0" lang="en-US" sz="16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Shapefile (.shp), GeoPackage (.gpkg), KML.</a:t>
            </a:r>
            <a:endParaRPr/>
          </a:p>
        </p:txBody>
      </p:sp>
      <p:sp>
        <p:nvSpPr>
          <p:cNvPr id="99" name="Google Shape;99;p14"/>
          <p:cNvSpPr txBox="1"/>
          <p:nvPr/>
        </p:nvSpPr>
        <p:spPr>
          <a:xfrm>
            <a:off x="1057275" y="5733752"/>
            <a:ext cx="4143375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Scaling:</a:t>
            </a:r>
            <a:r>
              <a:rPr b="0" i="0" lang="en-US" sz="16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Remains sharp at any zoom level.</a:t>
            </a:r>
            <a:endParaRPr/>
          </a:p>
        </p:txBody>
      </p:sp>
      <p:pic>
        <p:nvPicPr>
          <p:cNvPr descr="image.png" id="100" name="Google Shape;100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724650" y="1770161"/>
            <a:ext cx="7620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14"/>
          <p:cNvSpPr txBox="1"/>
          <p:nvPr/>
        </p:nvSpPr>
        <p:spPr>
          <a:xfrm>
            <a:off x="6724650" y="2770286"/>
            <a:ext cx="1820227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Raster Data</a:t>
            </a:r>
            <a:endParaRPr/>
          </a:p>
        </p:txBody>
      </p:sp>
      <p:sp>
        <p:nvSpPr>
          <p:cNvPr id="102" name="Google Shape;102;p14"/>
          <p:cNvSpPr txBox="1"/>
          <p:nvPr/>
        </p:nvSpPr>
        <p:spPr>
          <a:xfrm>
            <a:off x="6724650" y="3294161"/>
            <a:ext cx="4410075" cy="670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Represents continuous surfaces as a grid of cells, or pixels.</a:t>
            </a:r>
            <a:endParaRPr/>
          </a:p>
        </p:txBody>
      </p:sp>
      <p:sp>
        <p:nvSpPr>
          <p:cNvPr id="103" name="Google Shape;103;p14"/>
          <p:cNvSpPr txBox="1"/>
          <p:nvPr/>
        </p:nvSpPr>
        <p:spPr>
          <a:xfrm>
            <a:off x="6724650" y="4107358"/>
            <a:ext cx="4410075" cy="670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Structure:</a:t>
            </a:r>
            <a:r>
              <a:rPr b="0" i="0" lang="en-US" sz="16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Grid where each pixel holds a numerical value.</a:t>
            </a:r>
            <a:endParaRPr/>
          </a:p>
        </p:txBody>
      </p:sp>
      <p:sp>
        <p:nvSpPr>
          <p:cNvPr id="104" name="Google Shape;104;p14"/>
          <p:cNvSpPr txBox="1"/>
          <p:nvPr/>
        </p:nvSpPr>
        <p:spPr>
          <a:xfrm>
            <a:off x="6724650" y="4920555"/>
            <a:ext cx="293370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Formats:</a:t>
            </a:r>
            <a:r>
              <a:rPr b="0" i="0" lang="en-US" sz="16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GeoTIFF (.tif), JPEG.</a:t>
            </a:r>
            <a:endParaRPr/>
          </a:p>
        </p:txBody>
      </p:sp>
      <p:sp>
        <p:nvSpPr>
          <p:cNvPr id="105" name="Google Shape;105;p14"/>
          <p:cNvSpPr txBox="1"/>
          <p:nvPr/>
        </p:nvSpPr>
        <p:spPr>
          <a:xfrm>
            <a:off x="6724650" y="5398591"/>
            <a:ext cx="4410075" cy="670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Scaling:</a:t>
            </a:r>
            <a:r>
              <a:rPr b="0" i="0" lang="en-US" sz="16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Becomes pixelated (blocky) when zoomed in closely.</a:t>
            </a:r>
            <a:endParaRPr/>
          </a:p>
        </p:txBody>
      </p:sp>
      <p:pic>
        <p:nvPicPr>
          <p:cNvPr descr="image.png" id="106" name="Google Shape;106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271587" y="1960661"/>
            <a:ext cx="333375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7" name="Google Shape;107;p1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938962" y="1960661"/>
            <a:ext cx="333375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14"/>
          <p:cNvSpPr txBox="1"/>
          <p:nvPr/>
        </p:nvSpPr>
        <p:spPr>
          <a:xfrm>
            <a:off x="571500" y="160436"/>
            <a:ext cx="11601450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GIS Foundations: Data Models</a:t>
            </a:r>
            <a:endParaRPr/>
          </a:p>
        </p:txBody>
      </p:sp>
      <p:sp>
        <p:nvSpPr>
          <p:cNvPr id="109" name="Google Shape;109;p14"/>
          <p:cNvSpPr/>
          <p:nvPr/>
        </p:nvSpPr>
        <p:spPr>
          <a:xfrm>
            <a:off x="571500" y="884336"/>
            <a:ext cx="11049000" cy="190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F1C"/>
        </a:solidFill>
      </p:bgPr>
    </p:bg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4" name="Google Shape;114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15"/>
          <p:cNvSpPr txBox="1"/>
          <p:nvPr/>
        </p:nvSpPr>
        <p:spPr>
          <a:xfrm>
            <a:off x="2000250" y="973931"/>
            <a:ext cx="8858250" cy="11751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What are XYZ Tiles?</a:t>
            </a:r>
            <a:r>
              <a:rPr b="0" i="0" lang="en-US" sz="18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Web-hosted maps loaded in small image squares based on coordinates (X, Y) and zoom level (Z).</a:t>
            </a:r>
            <a:endParaRPr/>
          </a:p>
        </p:txBody>
      </p:sp>
      <p:sp>
        <p:nvSpPr>
          <p:cNvPr id="116" name="Google Shape;116;p15"/>
          <p:cNvSpPr txBox="1"/>
          <p:nvPr/>
        </p:nvSpPr>
        <p:spPr>
          <a:xfrm>
            <a:off x="2000250" y="2482453"/>
            <a:ext cx="8858250" cy="11751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Purpose</a:t>
            </a:r>
            <a:r>
              <a:rPr b="0" i="0" lang="en-US" sz="18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Provides vital geographic background so raw vector data does not float in an empty white canvas.</a:t>
            </a:r>
            <a:endParaRPr/>
          </a:p>
        </p:txBody>
      </p:sp>
      <p:sp>
        <p:nvSpPr>
          <p:cNvPr id="117" name="Google Shape;117;p15"/>
          <p:cNvSpPr txBox="1"/>
          <p:nvPr/>
        </p:nvSpPr>
        <p:spPr>
          <a:xfrm>
            <a:off x="2000250" y="3990975"/>
            <a:ext cx="8858250" cy="11751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Implementation in QGIS</a:t>
            </a:r>
            <a:r>
              <a:rPr b="0" i="0" lang="en-US" sz="18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Connect to OpenStreetMap (OSM) via the Browser panel, or add custom connections like Google Satellite imagery.</a:t>
            </a:r>
            <a:endParaRPr/>
          </a:p>
        </p:txBody>
      </p:sp>
      <p:sp>
        <p:nvSpPr>
          <p:cNvPr id="118" name="Google Shape;118;p15"/>
          <p:cNvSpPr txBox="1"/>
          <p:nvPr/>
        </p:nvSpPr>
        <p:spPr>
          <a:xfrm>
            <a:off x="2000250" y="5499496"/>
            <a:ext cx="8858250" cy="11751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Crucial Rule: Layer Order</a:t>
            </a:r>
            <a:r>
              <a:rPr b="0" i="0" lang="en-US" sz="18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QGIS draws from bottom to top. Basemaps must always be at the very bottom of the Layers Panel stack.</a:t>
            </a:r>
            <a:endParaRPr/>
          </a:p>
        </p:txBody>
      </p:sp>
      <p:pic>
        <p:nvPicPr>
          <p:cNvPr descr="image.png" id="119" name="Google Shape;119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333500" y="964406"/>
            <a:ext cx="25717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0" name="Google Shape;120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333500" y="2472928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1" name="Google Shape;121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333500" y="3981450"/>
            <a:ext cx="17145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2" name="Google Shape;122;p1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333500" y="5489971"/>
            <a:ext cx="257175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15"/>
          <p:cNvSpPr txBox="1"/>
          <p:nvPr/>
        </p:nvSpPr>
        <p:spPr>
          <a:xfrm>
            <a:off x="571500" y="-150018"/>
            <a:ext cx="11601450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Geographic Context &amp; Basemaps</a:t>
            </a:r>
            <a:endParaRPr/>
          </a:p>
        </p:txBody>
      </p:sp>
      <p:sp>
        <p:nvSpPr>
          <p:cNvPr id="124" name="Google Shape;124;p15"/>
          <p:cNvSpPr/>
          <p:nvPr/>
        </p:nvSpPr>
        <p:spPr>
          <a:xfrm>
            <a:off x="571500" y="573881"/>
            <a:ext cx="11049000" cy="190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F1C"/>
        </a:solidFill>
      </p:bgPr>
    </p:bg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29" name="Google Shape;129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0" name="Google Shape;130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157412"/>
            <a:ext cx="3492549" cy="36671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1" name="Google Shape;131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49799" y="2157412"/>
            <a:ext cx="3492549" cy="36671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2" name="Google Shape;132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28099" y="2157412"/>
            <a:ext cx="3492549" cy="36671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3" name="Google Shape;133;p1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14400" y="2500312"/>
            <a:ext cx="619125" cy="619125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16"/>
          <p:cNvSpPr txBox="1"/>
          <p:nvPr/>
        </p:nvSpPr>
        <p:spPr>
          <a:xfrm>
            <a:off x="914400" y="3357562"/>
            <a:ext cx="1610201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The Function</a:t>
            </a:r>
            <a:endParaRPr/>
          </a:p>
        </p:txBody>
      </p:sp>
      <p:sp>
        <p:nvSpPr>
          <p:cNvPr id="135" name="Google Shape;135;p16"/>
          <p:cNvSpPr txBox="1"/>
          <p:nvPr/>
        </p:nvSpPr>
        <p:spPr>
          <a:xfrm>
            <a:off x="914400" y="3814762"/>
            <a:ext cx="2806749" cy="15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Fetches specific OpenStreetMap vector data directly into the QGIS map canvas instantly, bypassing manual downloads.</a:t>
            </a:r>
            <a:endParaRPr/>
          </a:p>
        </p:txBody>
      </p:sp>
      <p:pic>
        <p:nvPicPr>
          <p:cNvPr descr="image.png" id="136" name="Google Shape;136;p1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692699" y="2500312"/>
            <a:ext cx="619125" cy="619125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16"/>
          <p:cNvSpPr txBox="1"/>
          <p:nvPr/>
        </p:nvSpPr>
        <p:spPr>
          <a:xfrm>
            <a:off x="4692699" y="3357562"/>
            <a:ext cx="1290161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The Query</a:t>
            </a:r>
            <a:endParaRPr/>
          </a:p>
        </p:txBody>
      </p:sp>
      <p:sp>
        <p:nvSpPr>
          <p:cNvPr id="138" name="Google Shape;138;p16"/>
          <p:cNvSpPr txBox="1"/>
          <p:nvPr/>
        </p:nvSpPr>
        <p:spPr>
          <a:xfrm>
            <a:off x="4692699" y="3814762"/>
            <a:ext cx="2806749" cy="15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Uses Key/Value pairs to search. (e.g., Key: amenity, Value: college) within a specified town or canvas extent.</a:t>
            </a:r>
            <a:endParaRPr/>
          </a:p>
        </p:txBody>
      </p:sp>
      <p:pic>
        <p:nvPicPr>
          <p:cNvPr descr="image.png" id="139" name="Google Shape;139;p16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470999" y="2500312"/>
            <a:ext cx="619125" cy="619125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16"/>
          <p:cNvSpPr txBox="1"/>
          <p:nvPr/>
        </p:nvSpPr>
        <p:spPr>
          <a:xfrm>
            <a:off x="8470999" y="3357562"/>
            <a:ext cx="128016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The Result</a:t>
            </a:r>
            <a:endParaRPr/>
          </a:p>
        </p:txBody>
      </p:sp>
      <p:sp>
        <p:nvSpPr>
          <p:cNvPr id="141" name="Google Shape;141;p16"/>
          <p:cNvSpPr txBox="1"/>
          <p:nvPr/>
        </p:nvSpPr>
        <p:spPr>
          <a:xfrm>
            <a:off x="8470999" y="3814762"/>
            <a:ext cx="2806749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Instantly generates accurate points and polygons for features without needing external datasets.</a:t>
            </a:r>
            <a:endParaRPr/>
          </a:p>
        </p:txBody>
      </p:sp>
      <p:pic>
        <p:nvPicPr>
          <p:cNvPr descr="image.png" id="142" name="Google Shape;142;p16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1100137" y="2667000"/>
            <a:ext cx="247650" cy="285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3" name="Google Shape;143;p16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4859387" y="2667000"/>
            <a:ext cx="285750" cy="285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4" name="Google Shape;144;p16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8618636" y="2667000"/>
            <a:ext cx="323850" cy="285750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6"/>
          <p:cNvSpPr txBox="1"/>
          <p:nvPr/>
        </p:nvSpPr>
        <p:spPr>
          <a:xfrm>
            <a:off x="571500" y="571500"/>
            <a:ext cx="11601450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Acquiring Vector Data: QuickOSM</a:t>
            </a:r>
            <a:endParaRPr/>
          </a:p>
        </p:txBody>
      </p:sp>
      <p:sp>
        <p:nvSpPr>
          <p:cNvPr id="146" name="Google Shape;146;p16"/>
          <p:cNvSpPr/>
          <p:nvPr/>
        </p:nvSpPr>
        <p:spPr>
          <a:xfrm>
            <a:off x="571500" y="1295400"/>
            <a:ext cx="11049000" cy="190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F1C"/>
        </a:solidFill>
      </p:bgPr>
    </p:bg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51" name="Google Shape;151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2" name="Google Shape;152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852612"/>
            <a:ext cx="2547937" cy="42767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3" name="Google Shape;153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405187" y="1852612"/>
            <a:ext cx="2547937" cy="42767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4" name="Google Shape;154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38875" y="1852612"/>
            <a:ext cx="2547937" cy="42767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5" name="Google Shape;155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072562" y="1852612"/>
            <a:ext cx="2547937" cy="42767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6" name="Google Shape;156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14400" y="2195512"/>
            <a:ext cx="619125" cy="619125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p17"/>
          <p:cNvSpPr txBox="1"/>
          <p:nvPr/>
        </p:nvSpPr>
        <p:spPr>
          <a:xfrm>
            <a:off x="914400" y="3052762"/>
            <a:ext cx="510063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Clip</a:t>
            </a:r>
            <a:endParaRPr/>
          </a:p>
        </p:txBody>
      </p:sp>
      <p:sp>
        <p:nvSpPr>
          <p:cNvPr id="158" name="Google Shape;158;p17"/>
          <p:cNvSpPr txBox="1"/>
          <p:nvPr/>
        </p:nvSpPr>
        <p:spPr>
          <a:xfrm>
            <a:off x="914400" y="3509962"/>
            <a:ext cx="1862137" cy="213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Acts as a cookie cutter. Extracts features from one layer based strictly on the boundaries of an overlapping layer.</a:t>
            </a:r>
            <a:endParaRPr/>
          </a:p>
        </p:txBody>
      </p:sp>
      <p:pic>
        <p:nvPicPr>
          <p:cNvPr descr="image.png" id="159" name="Google Shape;159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748087" y="2195512"/>
            <a:ext cx="619125" cy="619125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17"/>
          <p:cNvSpPr txBox="1"/>
          <p:nvPr/>
        </p:nvSpPr>
        <p:spPr>
          <a:xfrm>
            <a:off x="3748087" y="3052762"/>
            <a:ext cx="80010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Buffer</a:t>
            </a:r>
            <a:endParaRPr/>
          </a:p>
        </p:txBody>
      </p:sp>
      <p:sp>
        <p:nvSpPr>
          <p:cNvPr id="161" name="Google Shape;161;p17"/>
          <p:cNvSpPr txBox="1"/>
          <p:nvPr/>
        </p:nvSpPr>
        <p:spPr>
          <a:xfrm>
            <a:off x="3748087" y="3509962"/>
            <a:ext cx="1862137" cy="18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Creates a defined protective distance zone (polygon) around a point, line, or existing polygon feature.</a:t>
            </a:r>
            <a:endParaRPr/>
          </a:p>
        </p:txBody>
      </p:sp>
      <p:pic>
        <p:nvPicPr>
          <p:cNvPr descr="image.png" id="162" name="Google Shape;162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581775" y="2195512"/>
            <a:ext cx="619125" cy="619125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17"/>
          <p:cNvSpPr txBox="1"/>
          <p:nvPr/>
        </p:nvSpPr>
        <p:spPr>
          <a:xfrm>
            <a:off x="6581775" y="3052762"/>
            <a:ext cx="820102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Merge</a:t>
            </a:r>
            <a:endParaRPr/>
          </a:p>
        </p:txBody>
      </p:sp>
      <p:sp>
        <p:nvSpPr>
          <p:cNvPr id="164" name="Google Shape;164;p17"/>
          <p:cNvSpPr txBox="1"/>
          <p:nvPr/>
        </p:nvSpPr>
        <p:spPr>
          <a:xfrm>
            <a:off x="6581775" y="3509962"/>
            <a:ext cx="1862137" cy="18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Combines multiple separate, distinct vector layers into one single, unified layer for easier management.</a:t>
            </a:r>
            <a:endParaRPr/>
          </a:p>
        </p:txBody>
      </p:sp>
      <p:pic>
        <p:nvPicPr>
          <p:cNvPr descr="image.png" id="165" name="Google Shape;165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415462" y="2195512"/>
            <a:ext cx="619125" cy="619125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17"/>
          <p:cNvSpPr txBox="1"/>
          <p:nvPr/>
        </p:nvSpPr>
        <p:spPr>
          <a:xfrm>
            <a:off x="9415462" y="3052762"/>
            <a:ext cx="1070133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Dissolve</a:t>
            </a:r>
            <a:endParaRPr/>
          </a:p>
        </p:txBody>
      </p:sp>
      <p:sp>
        <p:nvSpPr>
          <p:cNvPr id="167" name="Google Shape;167;p17"/>
          <p:cNvSpPr txBox="1"/>
          <p:nvPr/>
        </p:nvSpPr>
        <p:spPr>
          <a:xfrm>
            <a:off x="9415462" y="3509962"/>
            <a:ext cx="1862137" cy="18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Merges internal boundaries that share a common attribute to create a single, continuous outer boundary.</a:t>
            </a:r>
            <a:endParaRPr/>
          </a:p>
        </p:txBody>
      </p:sp>
      <p:pic>
        <p:nvPicPr>
          <p:cNvPr descr="image.png" id="168" name="Google Shape;168;p1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081087" y="2362200"/>
            <a:ext cx="285750" cy="285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9" name="Google Shape;169;p1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3914775" y="2362200"/>
            <a:ext cx="285750" cy="285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0" name="Google Shape;170;p17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6729412" y="2362200"/>
            <a:ext cx="323850" cy="285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1" name="Google Shape;171;p17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9544050" y="2362200"/>
            <a:ext cx="361950" cy="285750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p17"/>
          <p:cNvSpPr txBox="1"/>
          <p:nvPr/>
        </p:nvSpPr>
        <p:spPr>
          <a:xfrm>
            <a:off x="571500" y="571500"/>
            <a:ext cx="11601450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Vector Geoprocessing Tools</a:t>
            </a:r>
            <a:endParaRPr/>
          </a:p>
        </p:txBody>
      </p:sp>
      <p:sp>
        <p:nvSpPr>
          <p:cNvPr id="173" name="Google Shape;173;p17"/>
          <p:cNvSpPr/>
          <p:nvPr/>
        </p:nvSpPr>
        <p:spPr>
          <a:xfrm>
            <a:off x="571500" y="1295400"/>
            <a:ext cx="11049000" cy="190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F1C"/>
        </a:solidFill>
      </p:bgPr>
    </p:bg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78" name="Google Shape;178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p18"/>
          <p:cNvSpPr/>
          <p:nvPr/>
        </p:nvSpPr>
        <p:spPr>
          <a:xfrm>
            <a:off x="571500" y="3971925"/>
            <a:ext cx="11049000" cy="38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18"/>
          <p:cNvSpPr txBox="1"/>
          <p:nvPr/>
        </p:nvSpPr>
        <p:spPr>
          <a:xfrm>
            <a:off x="510733" y="4371975"/>
            <a:ext cx="2552193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0F0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1. Create Layer</a:t>
            </a:r>
            <a:endParaRPr/>
          </a:p>
        </p:txBody>
      </p:sp>
      <p:sp>
        <p:nvSpPr>
          <p:cNvPr id="181" name="Google Shape;181;p18"/>
          <p:cNvSpPr txBox="1"/>
          <p:nvPr/>
        </p:nvSpPr>
        <p:spPr>
          <a:xfrm>
            <a:off x="571500" y="4752975"/>
            <a:ext cx="243066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Generate a New Shapefile Layer, specifying the geometry type (Point, Line, or Polygon).</a:t>
            </a:r>
            <a:endParaRPr/>
          </a:p>
        </p:txBody>
      </p:sp>
      <p:sp>
        <p:nvSpPr>
          <p:cNvPr id="182" name="Google Shape;182;p18"/>
          <p:cNvSpPr txBox="1"/>
          <p:nvPr/>
        </p:nvSpPr>
        <p:spPr>
          <a:xfrm>
            <a:off x="3383413" y="2171700"/>
            <a:ext cx="2552193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0F0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2. Toggle Edit</a:t>
            </a:r>
            <a:endParaRPr/>
          </a:p>
        </p:txBody>
      </p:sp>
      <p:sp>
        <p:nvSpPr>
          <p:cNvPr id="183" name="Google Shape;183;p18"/>
          <p:cNvSpPr txBox="1"/>
          <p:nvPr/>
        </p:nvSpPr>
        <p:spPr>
          <a:xfrm>
            <a:off x="3444180" y="2552700"/>
            <a:ext cx="243066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Enable editing mode by clicking the Pencil icon in the Layers panel.</a:t>
            </a:r>
            <a:endParaRPr/>
          </a:p>
        </p:txBody>
      </p:sp>
      <p:sp>
        <p:nvSpPr>
          <p:cNvPr id="184" name="Google Shape;184;p18"/>
          <p:cNvSpPr txBox="1"/>
          <p:nvPr/>
        </p:nvSpPr>
        <p:spPr>
          <a:xfrm>
            <a:off x="6256094" y="4371975"/>
            <a:ext cx="2552193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0F0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3. Trace Features</a:t>
            </a:r>
            <a:endParaRPr/>
          </a:p>
        </p:txBody>
      </p:sp>
      <p:sp>
        <p:nvSpPr>
          <p:cNvPr id="185" name="Google Shape;185;p18"/>
          <p:cNvSpPr txBox="1"/>
          <p:nvPr/>
        </p:nvSpPr>
        <p:spPr>
          <a:xfrm>
            <a:off x="6316860" y="4752975"/>
            <a:ext cx="243066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Use the add feature tool to manually trace shapes over a high-resolution basemap.</a:t>
            </a:r>
            <a:endParaRPr/>
          </a:p>
        </p:txBody>
      </p:sp>
      <p:sp>
        <p:nvSpPr>
          <p:cNvPr id="186" name="Google Shape;186;p18"/>
          <p:cNvSpPr txBox="1"/>
          <p:nvPr/>
        </p:nvSpPr>
        <p:spPr>
          <a:xfrm>
            <a:off x="9128774" y="1866900"/>
            <a:ext cx="2552193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0F0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4. Populate Data</a:t>
            </a:r>
            <a:endParaRPr/>
          </a:p>
        </p:txBody>
      </p:sp>
      <p:sp>
        <p:nvSpPr>
          <p:cNvPr id="187" name="Google Shape;187;p18"/>
          <p:cNvSpPr txBox="1"/>
          <p:nvPr/>
        </p:nvSpPr>
        <p:spPr>
          <a:xfrm>
            <a:off x="9189541" y="2247900"/>
            <a:ext cx="243066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Open the Attribute Table to log specific names and values for the newly drawn shapes.</a:t>
            </a:r>
            <a:endParaRPr/>
          </a:p>
        </p:txBody>
      </p:sp>
      <p:sp>
        <p:nvSpPr>
          <p:cNvPr id="188" name="Google Shape;188;p18"/>
          <p:cNvSpPr txBox="1"/>
          <p:nvPr/>
        </p:nvSpPr>
        <p:spPr>
          <a:xfrm>
            <a:off x="571500" y="571500"/>
            <a:ext cx="11601450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Manual Data Creation: Digitization</a:t>
            </a:r>
            <a:endParaRPr/>
          </a:p>
        </p:txBody>
      </p:sp>
      <p:sp>
        <p:nvSpPr>
          <p:cNvPr id="189" name="Google Shape;189;p18"/>
          <p:cNvSpPr/>
          <p:nvPr/>
        </p:nvSpPr>
        <p:spPr>
          <a:xfrm>
            <a:off x="571500" y="1295400"/>
            <a:ext cx="11049000" cy="190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90" name="Google Shape;190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786832" y="3990975"/>
            <a:ext cx="762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1" name="Google Shape;191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659513" y="3990975"/>
            <a:ext cx="762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2" name="Google Shape;192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532193" y="3990975"/>
            <a:ext cx="762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3" name="Google Shape;193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404874" y="3990975"/>
            <a:ext cx="76200" cy="152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F1C"/>
        </a:solidFill>
      </p:bgPr>
    </p:bg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98" name="Google Shape;198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9" name="Google Shape;199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157412"/>
            <a:ext cx="3492549" cy="36671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0" name="Google Shape;200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49799" y="2157412"/>
            <a:ext cx="3492549" cy="36671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1" name="Google Shape;201;p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28099" y="2157412"/>
            <a:ext cx="3492549" cy="36671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2" name="Google Shape;202;p1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14400" y="2500312"/>
            <a:ext cx="619125" cy="619125"/>
          </a:xfrm>
          <a:prstGeom prst="rect">
            <a:avLst/>
          </a:prstGeom>
          <a:noFill/>
          <a:ln>
            <a:noFill/>
          </a:ln>
        </p:spPr>
      </p:pic>
      <p:sp>
        <p:nvSpPr>
          <p:cNvPr id="203" name="Google Shape;203;p19"/>
          <p:cNvSpPr txBox="1"/>
          <p:nvPr/>
        </p:nvSpPr>
        <p:spPr>
          <a:xfrm>
            <a:off x="914400" y="3357562"/>
            <a:ext cx="2150268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Elevation Models</a:t>
            </a:r>
            <a:endParaRPr/>
          </a:p>
        </p:txBody>
      </p:sp>
      <p:sp>
        <p:nvSpPr>
          <p:cNvPr id="204" name="Google Shape;204;p19"/>
          <p:cNvSpPr txBox="1"/>
          <p:nvPr/>
        </p:nvSpPr>
        <p:spPr>
          <a:xfrm>
            <a:off x="914400" y="3814762"/>
            <a:ext cx="2806749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A Digital Elevation Model (DEM) is a raster where every single pixel stores height data above sea level.</a:t>
            </a:r>
            <a:endParaRPr/>
          </a:p>
        </p:txBody>
      </p:sp>
      <p:pic>
        <p:nvPicPr>
          <p:cNvPr descr="image.png" id="205" name="Google Shape;205;p19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692699" y="2500312"/>
            <a:ext cx="619125" cy="619125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19"/>
          <p:cNvSpPr txBox="1"/>
          <p:nvPr/>
        </p:nvSpPr>
        <p:spPr>
          <a:xfrm>
            <a:off x="4692699" y="3357562"/>
            <a:ext cx="2190273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Raster Extraction</a:t>
            </a:r>
            <a:endParaRPr/>
          </a:p>
        </p:txBody>
      </p:sp>
      <p:sp>
        <p:nvSpPr>
          <p:cNvPr id="207" name="Google Shape;207;p19"/>
          <p:cNvSpPr txBox="1"/>
          <p:nvPr/>
        </p:nvSpPr>
        <p:spPr>
          <a:xfrm>
            <a:off x="4692699" y="3814762"/>
            <a:ext cx="2806749" cy="15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Use the 'Clip Raster by Mask Layer' tool to isolate continuous raster data to a specific, defined vector boundary.</a:t>
            </a:r>
            <a:endParaRPr/>
          </a:p>
        </p:txBody>
      </p:sp>
      <p:pic>
        <p:nvPicPr>
          <p:cNvPr descr="image.png" id="208" name="Google Shape;208;p19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470999" y="2500312"/>
            <a:ext cx="619125" cy="619125"/>
          </a:xfrm>
          <a:prstGeom prst="rect">
            <a:avLst/>
          </a:prstGeom>
          <a:noFill/>
          <a:ln>
            <a:noFill/>
          </a:ln>
        </p:spPr>
      </p:pic>
      <p:sp>
        <p:nvSpPr>
          <p:cNvPr id="209" name="Google Shape;209;p19"/>
          <p:cNvSpPr txBox="1"/>
          <p:nvPr/>
        </p:nvSpPr>
        <p:spPr>
          <a:xfrm>
            <a:off x="8470999" y="3357562"/>
            <a:ext cx="1940242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Terrain Analysis</a:t>
            </a:r>
            <a:endParaRPr/>
          </a:p>
        </p:txBody>
      </p:sp>
      <p:sp>
        <p:nvSpPr>
          <p:cNvPr id="210" name="Google Shape;210;p19"/>
          <p:cNvSpPr txBox="1"/>
          <p:nvPr/>
        </p:nvSpPr>
        <p:spPr>
          <a:xfrm>
            <a:off x="8470999" y="3814762"/>
            <a:ext cx="2806749" cy="15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Utilize raw DEMs to automatically calculate and visualize Slope, Aspect, Hillshade, and topographic Contours.</a:t>
            </a:r>
            <a:endParaRPr/>
          </a:p>
        </p:txBody>
      </p:sp>
      <p:pic>
        <p:nvPicPr>
          <p:cNvPr descr="image.png" id="211" name="Google Shape;211;p19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1081087" y="2667000"/>
            <a:ext cx="285750" cy="285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2" name="Google Shape;212;p19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4859387" y="2667000"/>
            <a:ext cx="285750" cy="285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3" name="Google Shape;213;p19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8637686" y="2667000"/>
            <a:ext cx="285750" cy="285750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19"/>
          <p:cNvSpPr txBox="1"/>
          <p:nvPr/>
        </p:nvSpPr>
        <p:spPr>
          <a:xfrm>
            <a:off x="571500" y="571500"/>
            <a:ext cx="11601450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Working with Raster Data &amp; DEMs</a:t>
            </a:r>
            <a:endParaRPr/>
          </a:p>
        </p:txBody>
      </p:sp>
      <p:sp>
        <p:nvSpPr>
          <p:cNvPr id="215" name="Google Shape;215;p19"/>
          <p:cNvSpPr/>
          <p:nvPr/>
        </p:nvSpPr>
        <p:spPr>
          <a:xfrm>
            <a:off x="571500" y="1295400"/>
            <a:ext cx="11049000" cy="190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F1C"/>
        </a:solidFill>
      </p:bgPr>
    </p:bg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20" name="Google Shape;220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1" name="Google Shape;221;p20"/>
          <p:cNvSpPr/>
          <p:nvPr/>
        </p:nvSpPr>
        <p:spPr>
          <a:xfrm>
            <a:off x="571500" y="3971925"/>
            <a:ext cx="11049000" cy="38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20"/>
          <p:cNvSpPr txBox="1"/>
          <p:nvPr/>
        </p:nvSpPr>
        <p:spPr>
          <a:xfrm>
            <a:off x="510733" y="4371975"/>
            <a:ext cx="2552193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0F0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1. Load Raster</a:t>
            </a:r>
            <a:endParaRPr/>
          </a:p>
        </p:txBody>
      </p:sp>
      <p:sp>
        <p:nvSpPr>
          <p:cNvPr id="223" name="Google Shape;223;p20"/>
          <p:cNvSpPr txBox="1"/>
          <p:nvPr/>
        </p:nvSpPr>
        <p:spPr>
          <a:xfrm>
            <a:off x="571500" y="4752975"/>
            <a:ext cx="243066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Import an unreferenced, static image (like a scanned map) into the Georeferencer tool.</a:t>
            </a:r>
            <a:endParaRPr/>
          </a:p>
        </p:txBody>
      </p:sp>
      <p:sp>
        <p:nvSpPr>
          <p:cNvPr id="224" name="Google Shape;224;p20"/>
          <p:cNvSpPr txBox="1"/>
          <p:nvPr/>
        </p:nvSpPr>
        <p:spPr>
          <a:xfrm>
            <a:off x="3383413" y="1866900"/>
            <a:ext cx="2552193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0F0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2. Add GCPs</a:t>
            </a:r>
            <a:endParaRPr/>
          </a:p>
        </p:txBody>
      </p:sp>
      <p:sp>
        <p:nvSpPr>
          <p:cNvPr id="225" name="Google Shape;225;p20"/>
          <p:cNvSpPr txBox="1"/>
          <p:nvPr/>
        </p:nvSpPr>
        <p:spPr>
          <a:xfrm>
            <a:off x="3444180" y="2247900"/>
            <a:ext cx="243066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Plot Ground Control Points matching distinct landmarks on the image to the live map canvas.</a:t>
            </a:r>
            <a:endParaRPr/>
          </a:p>
        </p:txBody>
      </p:sp>
      <p:sp>
        <p:nvSpPr>
          <p:cNvPr id="226" name="Google Shape;226;p20"/>
          <p:cNvSpPr txBox="1"/>
          <p:nvPr/>
        </p:nvSpPr>
        <p:spPr>
          <a:xfrm>
            <a:off x="6256094" y="4371975"/>
            <a:ext cx="2552193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0F0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3. Configure</a:t>
            </a:r>
            <a:endParaRPr/>
          </a:p>
        </p:txBody>
      </p:sp>
      <p:sp>
        <p:nvSpPr>
          <p:cNvPr id="227" name="Google Shape;227;p20"/>
          <p:cNvSpPr txBox="1"/>
          <p:nvPr/>
        </p:nvSpPr>
        <p:spPr>
          <a:xfrm>
            <a:off x="6316860" y="4752975"/>
            <a:ext cx="2430660" cy="15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Open Transformation Settings, set to Linear transformation and Nearest Neighbour resampling.</a:t>
            </a:r>
            <a:endParaRPr/>
          </a:p>
        </p:txBody>
      </p:sp>
      <p:sp>
        <p:nvSpPr>
          <p:cNvPr id="228" name="Google Shape;228;p20"/>
          <p:cNvSpPr txBox="1"/>
          <p:nvPr/>
        </p:nvSpPr>
        <p:spPr>
          <a:xfrm>
            <a:off x="9128774" y="1562100"/>
            <a:ext cx="2552193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0F0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4. Transform</a:t>
            </a:r>
            <a:endParaRPr/>
          </a:p>
        </p:txBody>
      </p:sp>
      <p:sp>
        <p:nvSpPr>
          <p:cNvPr id="229" name="Google Shape;229;p20"/>
          <p:cNvSpPr txBox="1"/>
          <p:nvPr/>
        </p:nvSpPr>
        <p:spPr>
          <a:xfrm>
            <a:off x="9189541" y="1943100"/>
            <a:ext cx="2430660" cy="15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Run the process to mathematically warp and pin the image accurately over the spatial coordinate system.</a:t>
            </a:r>
            <a:endParaRPr/>
          </a:p>
        </p:txBody>
      </p:sp>
      <p:sp>
        <p:nvSpPr>
          <p:cNvPr id="230" name="Google Shape;230;p20"/>
          <p:cNvSpPr txBox="1"/>
          <p:nvPr/>
        </p:nvSpPr>
        <p:spPr>
          <a:xfrm>
            <a:off x="571500" y="571500"/>
            <a:ext cx="11601450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Aligning Historical Data: Georeferencing</a:t>
            </a:r>
            <a:endParaRPr/>
          </a:p>
        </p:txBody>
      </p:sp>
      <p:sp>
        <p:nvSpPr>
          <p:cNvPr id="231" name="Google Shape;231;p20"/>
          <p:cNvSpPr/>
          <p:nvPr/>
        </p:nvSpPr>
        <p:spPr>
          <a:xfrm>
            <a:off x="571500" y="1295400"/>
            <a:ext cx="11049000" cy="190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32" name="Google Shape;232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786832" y="3990975"/>
            <a:ext cx="762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3" name="Google Shape;233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659513" y="3990975"/>
            <a:ext cx="762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4" name="Google Shape;234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532193" y="3990975"/>
            <a:ext cx="762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5" name="Google Shape;235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404874" y="3990975"/>
            <a:ext cx="76200" cy="152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F1C"/>
        </a:solidFill>
      </p:bgPr>
    </p:bg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40" name="Google Shape;240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41" name="Google Shape;241;p21"/>
          <p:cNvSpPr txBox="1"/>
          <p:nvPr/>
        </p:nvSpPr>
        <p:spPr>
          <a:xfrm>
            <a:off x="2000250" y="1156841"/>
            <a:ext cx="8858250" cy="11751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Purpose of the Composer</a:t>
            </a:r>
            <a:r>
              <a:rPr b="0" i="0" lang="en-US" sz="18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Translating raw GIS data layers into professional, readable cartographic products for sharing.</a:t>
            </a:r>
            <a:endParaRPr/>
          </a:p>
        </p:txBody>
      </p:sp>
      <p:sp>
        <p:nvSpPr>
          <p:cNvPr id="242" name="Google Shape;242;p21"/>
          <p:cNvSpPr txBox="1"/>
          <p:nvPr/>
        </p:nvSpPr>
        <p:spPr>
          <a:xfrm>
            <a:off x="2000250" y="2665362"/>
            <a:ext cx="8858250" cy="11751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Locking Views</a:t>
            </a:r>
            <a:r>
              <a:rPr b="0" i="0" lang="en-US" sz="18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After drawing a map box, locking layers freezes the view, allowing you to add separate inset maps securely.</a:t>
            </a:r>
            <a:endParaRPr/>
          </a:p>
        </p:txBody>
      </p:sp>
      <p:sp>
        <p:nvSpPr>
          <p:cNvPr id="243" name="Google Shape;243;p21"/>
          <p:cNvSpPr txBox="1"/>
          <p:nvPr/>
        </p:nvSpPr>
        <p:spPr>
          <a:xfrm>
            <a:off x="2000250" y="4173884"/>
            <a:ext cx="8858250" cy="11751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Cartographic Elements</a:t>
            </a:r>
            <a:r>
              <a:rPr b="0" i="0" lang="en-US" sz="18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Easily add dynamic Legends, Scale Bars, and North Arrows (ensuring the arrow uses EPSG:4326 CRS).</a:t>
            </a:r>
            <a:endParaRPr/>
          </a:p>
        </p:txBody>
      </p:sp>
      <p:sp>
        <p:nvSpPr>
          <p:cNvPr id="244" name="Google Shape;244;p21"/>
          <p:cNvSpPr txBox="1"/>
          <p:nvPr/>
        </p:nvSpPr>
        <p:spPr>
          <a:xfrm>
            <a:off x="2000250" y="5682406"/>
            <a:ext cx="8858250" cy="8094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Exporting</a:t>
            </a:r>
            <a:r>
              <a:rPr b="0" i="0" lang="en-US" sz="18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Generate the final composed layout as a high-resolution Image or a scalable PDF.</a:t>
            </a:r>
            <a:endParaRPr/>
          </a:p>
        </p:txBody>
      </p:sp>
      <p:pic>
        <p:nvPicPr>
          <p:cNvPr descr="image.png" id="245" name="Google Shape;245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333500" y="1147316"/>
            <a:ext cx="25717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6" name="Google Shape;246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333500" y="2655837"/>
            <a:ext cx="20002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7" name="Google Shape;247;p2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333500" y="4164359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8" name="Google Shape;248;p2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333500" y="5672881"/>
            <a:ext cx="228600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249" name="Google Shape;249;p21"/>
          <p:cNvSpPr txBox="1"/>
          <p:nvPr/>
        </p:nvSpPr>
        <p:spPr>
          <a:xfrm>
            <a:off x="571500" y="32891"/>
            <a:ext cx="11601450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Final Map Production: Print Layout</a:t>
            </a:r>
            <a:endParaRPr/>
          </a:p>
        </p:txBody>
      </p:sp>
      <p:sp>
        <p:nvSpPr>
          <p:cNvPr id="250" name="Google Shape;250;p21"/>
          <p:cNvSpPr/>
          <p:nvPr/>
        </p:nvSpPr>
        <p:spPr>
          <a:xfrm>
            <a:off x="571500" y="756791"/>
            <a:ext cx="11049000" cy="190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