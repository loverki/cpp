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36" r:id="rId1"/>
  </p:sldMasterIdLst>
  <p:notesMasterIdLst>
    <p:notesMasterId r:id="rId20"/>
  </p:notesMasterIdLst>
  <p:sldIdLst>
    <p:sldId id="256" r:id="rId2"/>
    <p:sldId id="257" r:id="rId3"/>
    <p:sldId id="273" r:id="rId4"/>
    <p:sldId id="258" r:id="rId5"/>
    <p:sldId id="272" r:id="rId6"/>
    <p:sldId id="267" r:id="rId7"/>
    <p:sldId id="259" r:id="rId8"/>
    <p:sldId id="269" r:id="rId9"/>
    <p:sldId id="260" r:id="rId10"/>
    <p:sldId id="266" r:id="rId11"/>
    <p:sldId id="261" r:id="rId12"/>
    <p:sldId id="270" r:id="rId13"/>
    <p:sldId id="271" r:id="rId14"/>
    <p:sldId id="262" r:id="rId15"/>
    <p:sldId id="265" r:id="rId16"/>
    <p:sldId id="263" r:id="rId17"/>
    <p:sldId id="268" r:id="rId18"/>
    <p:sldId id="264" r:id="rId19"/>
  </p:sldIdLst>
  <p:sldSz cx="12192000" cy="6858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  <p:embeddedFont>
      <p:font typeface="Wingdings 3" panose="05040102010807070707" pitchFamily="18" charset="2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1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5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7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3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7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02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569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098161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31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72295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415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0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4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  <p:sldLayoutId id="214748385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34.png"/><Relationship Id="rId5" Type="http://schemas.openxmlformats.org/officeDocument/2006/relationships/image" Target="../media/image14.png"/><Relationship Id="rId10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7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8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7400" b="1691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  <a:noFill/>
        </p:spPr>
      </p:pic>
      <p:sp>
        <p:nvSpPr>
          <p:cNvPr id="103" name="Isosceles Triangle 102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5" name="Parallelogram 104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3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5" name="Google Shape;85;p13"/>
          <p:cNvSpPr txBox="1"/>
          <p:nvPr/>
        </p:nvSpPr>
        <p:spPr>
          <a:xfrm>
            <a:off x="3854725" y="1538874"/>
            <a:ext cx="4482550" cy="97309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2500" lnSpcReduction="10000"/>
          </a:bodyPr>
          <a:lstStyle/>
          <a:p>
            <a:pPr marL="0" marR="0" lvl="0" indent="0" algn="r">
              <a:spcBef>
                <a:spcPct val="0"/>
              </a:spcBef>
              <a:spcAft>
                <a:spcPts val="600"/>
              </a:spcAft>
            </a:pPr>
            <a:r>
              <a:rPr lang="en-US" sz="6000" b="1" u="sng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Plus Jakarta Sans ExtraBold"/>
              </a:rPr>
              <a:t>QGIS</a:t>
            </a:r>
            <a:endParaRPr lang="en-US" sz="6000" b="1" u="sng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890325" y="2953934"/>
            <a:ext cx="4485725" cy="109689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R="0" lvl="0" algn="r"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sym typeface="Inter"/>
              </a:rPr>
              <a:t>A Comprehensive Overview of GIS Workflows, Spatial Analysis, and Map Production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7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9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1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4386"/>
            <a:ext cx="5381625" cy="541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284386"/>
            <a:ext cx="5381625" cy="541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177016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57275" y="2770286"/>
            <a:ext cx="186023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Data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329416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Represents discrete real-world features using precise geometric coordinates.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4107358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Points (cities), Lines (roads), Polygons (boundaries).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4920555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Shapefile (.shp), GeoPackage (.gpkg), KML.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5733752"/>
            <a:ext cx="4143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Remains sharp at any zoom level.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4650" y="177016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724650" y="2770286"/>
            <a:ext cx="182022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Raster Data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29416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Represents continuous surfaces as a grid of cells, or pixels.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4107358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Grid where each pixel holds a numerical value.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4920555"/>
            <a:ext cx="2933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GeoTIFF (.tif), JPEG.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5398591"/>
            <a:ext cx="4410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Becomes pixelated (blocky) when zoomed in closely.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1587" y="196066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38962" y="196066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60436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GIS Foundations: Data Models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884336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32C22D-E64C-C5AC-9B5C-D05272E6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17" y="137652"/>
            <a:ext cx="11263448" cy="61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2000250" y="973931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are XYZ Tiles?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Web-hosted maps loaded in small image squares based on coordinates (X, Y) and zoom level (Z).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000250" y="2482453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Provides vital geographic background so raw vector data does not float in an empty white canvas.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2000250" y="3990975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Implementation in QGIS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Connect to OpenStreetMap (OSM) via the Browser panel, or add custom connections like Google Satellite imagery.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000250" y="5499496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Crucial Rule: Layer Order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QGIS draws from bottom to top. Basemaps must always be at the very bottom of the Layers Panel stack.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96440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47292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814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5489971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-26194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Geographic Context &amp; Basemaps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573881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B8B4B-3665-4374-93EE-4F0604E9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7" y="147058"/>
            <a:ext cx="11141405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9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169D0-147E-D7D8-AA58-904F8407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06"/>
          <a:stretch>
            <a:fillRect/>
          </a:stretch>
        </p:blipFill>
        <p:spPr>
          <a:xfrm>
            <a:off x="20" y="10"/>
            <a:ext cx="12191980" cy="61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3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14400" y="3357562"/>
            <a:ext cx="161020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Function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4400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Fetches specific OpenStreetMap vector data directly into the QGIS map canvas instantly, bypassing manual downloads.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692699" y="3357562"/>
            <a:ext cx="12901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Query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926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Key/Value pairs to search. (e.g., Key: amenity, Value: college) within a specified town or canvas extent.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470999" y="3357562"/>
            <a:ext cx="12801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Result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70999" y="38147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Instantly generates accurate points and polygons for features without needing external datasets.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0137" y="26670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593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8636" y="266700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Acquiring Vector Data: QuickOSM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04B66-0534-25CF-C693-1490157D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6"/>
          <a:stretch>
            <a:fillRect/>
          </a:stretch>
        </p:blipFill>
        <p:spPr>
          <a:xfrm>
            <a:off x="20" y="10"/>
            <a:ext cx="12191980" cy="61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8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1852612"/>
            <a:ext cx="2547937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914400" y="3052762"/>
            <a:ext cx="51006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Clip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3509962"/>
            <a:ext cx="1862137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Acts as a cookie cutter. Extracts features from one layer based strictly on the boundaries of an overlapping layer.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48087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3748087" y="3052762"/>
            <a:ext cx="800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Buffer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748087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Creates a defined protective distance zone (polygon) around a point, line, or existing polygon feature.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581775" y="3052762"/>
            <a:ext cx="820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Merge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81775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Combines multiple separate, distinct vector layers into one single, unified layer for easier management.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15462" y="21955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415462" y="3052762"/>
            <a:ext cx="10701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Dissolve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15462" y="3509962"/>
            <a:ext cx="1862137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Merges internal boundaries that share a common attribute to create a single, continuous outer boundary.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1087" y="23622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914775" y="23622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9412" y="23622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44050" y="23622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 Geoprocessing Tools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80596-5F23-B9BF-2B8C-D73661B2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37"/>
          <a:stretch>
            <a:fillRect/>
          </a:stretch>
        </p:blipFill>
        <p:spPr>
          <a:xfrm>
            <a:off x="0" y="304801"/>
            <a:ext cx="12191980" cy="618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9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571500" y="3971925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10733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Create Layer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a New Shapefile Layer, specifying the geometry type (Point, Line, or Polygon).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383413" y="21717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Toggle Edit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444180" y="25527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Enable editing mode by clicking the Pencil icon in the Layers panel.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256094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Trace Features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31686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the add feature tool to manually trace shapes over a high-resolution basemap.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128774" y="18669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Populate Data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189541" y="22479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the Attribute Table to log specific names and values for the newly drawn shapes.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Data Creation: Digitization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6832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951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219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4874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33028-D10F-376C-F2F2-3BD7431B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48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B5D46-8F7F-A680-FBBC-4115BAB3F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7" y="205460"/>
            <a:ext cx="11133785" cy="64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23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57412"/>
            <a:ext cx="3492549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14400" y="3357562"/>
            <a:ext cx="215026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Elevation Models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914400" y="38147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Digital Elevation Model (DEM) is a raster where every single pixel stores height data above sea level.</a:t>
            </a:r>
            <a:endParaRPr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4692699" y="3357562"/>
            <a:ext cx="219027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Raster Extraction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6926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the 'Clip Raster by Mask Layer' tool to isolate continuous raster data to a specific, defined vector boundary.</a:t>
            </a:r>
            <a:endParaRPr/>
          </a:p>
        </p:txBody>
      </p:sp>
      <p:pic>
        <p:nvPicPr>
          <p:cNvPr id="208" name="Google Shape;20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50031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8470999" y="3357562"/>
            <a:ext cx="194024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Terrain Analysis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470999" y="3814762"/>
            <a:ext cx="28067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Utilize raw DEMs to automatically calculate and visualize Slope, Aspect, Hillshade, and topographic Contours.</a:t>
            </a:r>
            <a:endParaRPr/>
          </a:p>
        </p:txBody>
      </p:sp>
      <p:pic>
        <p:nvPicPr>
          <p:cNvPr id="211" name="Google Shape;21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10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59387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37686" y="26670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 with Raster Data &amp; DEMs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AB6BC4-3D05-E9F0-41DC-ED37C413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16" y="100181"/>
            <a:ext cx="11133785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2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571500" y="3971925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10733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Load Raster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4752975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 an unreferenced, static image (like a scanned map) into the Georeferencer tool.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383413" y="18669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Add GCPs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444180" y="22479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Plot Ground Control Points matching distinct landmarks on the image to the live map canvas.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256094" y="4371975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Configure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316860" y="4752975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Transformation Settings, set to Linear transformation and Nearest Neighbour resampling.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128774" y="1562100"/>
            <a:ext cx="25521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Transform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189541" y="1943100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 the process to mathematically warp and pin the image accurately over the spatial coordinate system.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Aligning Historical Data: Georeferencing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6832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951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2193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04874" y="3990975"/>
            <a:ext cx="762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2FB23-1872-F662-FD13-872107C39D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40"/>
          <a:stretch>
            <a:fillRect/>
          </a:stretch>
        </p:blipFill>
        <p:spPr>
          <a:xfrm>
            <a:off x="20" y="10"/>
            <a:ext cx="12191980" cy="61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72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07689" y="0"/>
            <a:ext cx="1349969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2000250" y="1156841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Purpose of the Composer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Translating raw GIS data layers into professional, readable cartographic products for sharing.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2000250" y="2665362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Locking Views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After drawing a map box, locking layers freezes the view, allowing you to add separate inset maps securely.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2000250" y="4173884"/>
            <a:ext cx="8858250" cy="117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Cartographic Elements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Easily add dynamic Legends, Scale Bars, and North Arrows (ensuring the arrow uses EPSG:4326 CRS).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2000250" y="5682406"/>
            <a:ext cx="8858250" cy="80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Exporting</a:t>
            </a: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Generate the final composed layout as a high-resolution Image or a scalable PDF.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14731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2655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1643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567288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571500" y="32891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Map Production: Print Layout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756791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681</Words>
  <Application>Microsoft Office PowerPoint</Application>
  <PresentationFormat>Widescreen</PresentationFormat>
  <Paragraphs>64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Plus Jakarta Sans</vt:lpstr>
      <vt:lpstr>Trebuchet MS</vt:lpstr>
      <vt:lpstr>Calibri</vt:lpstr>
      <vt:lpstr>Wingdings 3</vt:lpstr>
      <vt:lpstr>Inter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Gaurav Singh</dc:creator>
  <cp:lastModifiedBy>Gaurav Singh</cp:lastModifiedBy>
  <cp:revision>2</cp:revision>
  <dcterms:modified xsi:type="dcterms:W3CDTF">2026-08-07T04:48:15Z</dcterms:modified>
</cp:coreProperties>
</file>