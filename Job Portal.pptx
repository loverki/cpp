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72" r:id="rId2"/>
    <p:sldId id="273" r:id="rId3"/>
    <p:sldId id="274" r:id="rId4"/>
    <p:sldId id="275" r:id="rId5"/>
    <p:sldId id="276" r:id="rId6"/>
    <p:sldId id="277" r:id="rId7"/>
    <p:sldId id="287" r:id="rId8"/>
    <p:sldId id="278" r:id="rId9"/>
    <p:sldId id="288" r:id="rId10"/>
    <p:sldId id="279" r:id="rId11"/>
    <p:sldId id="290" r:id="rId12"/>
    <p:sldId id="280" r:id="rId13"/>
    <p:sldId id="289" r:id="rId14"/>
    <p:sldId id="281" r:id="rId15"/>
    <p:sldId id="282" r:id="rId16"/>
    <p:sldId id="283" r:id="rId17"/>
    <p:sldId id="284" r:id="rId18"/>
    <p:sldId id="285" r:id="rId19"/>
    <p:sldId id="286" r:id="rId20"/>
  </p:sldIdLst>
  <p:sldSz cx="14630400" cy="8229600"/>
  <p:notesSz cx="8229600" cy="14630400"/>
  <p:embeddedFontLst>
    <p:embeddedFont>
      <p:font typeface="Arial Rounded MT Bold" panose="020F0704030504030204" pitchFamily="34" charset="0"/>
      <p:regular r:id="rId22"/>
    </p:embeddedFont>
    <p:embeddedFont>
      <p:font typeface="DM Sans" pitchFamily="2" charset="0"/>
      <p:regular r:id="rId23"/>
      <p:bold r:id="rId24"/>
    </p:embeddedFont>
    <p:embeddedFont>
      <p:font typeface="PT Serif" panose="020A0603040505020204" pitchFamily="18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6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485367-B1E0-6085-D905-22EDD2C75BF6}"/>
              </a:ext>
            </a:extLst>
          </p:cNvPr>
          <p:cNvSpPr/>
          <p:nvPr/>
        </p:nvSpPr>
        <p:spPr>
          <a:xfrm>
            <a:off x="9178724" y="4409721"/>
            <a:ext cx="4271058" cy="3245262"/>
          </a:xfrm>
          <a:prstGeom prst="roundRect">
            <a:avLst/>
          </a:prstGeom>
          <a:effectLst>
            <a:glow rad="254000">
              <a:schemeClr val="accent1">
                <a:lumMod val="75000"/>
                <a:alpha val="40000"/>
              </a:schemeClr>
            </a:glow>
            <a:outerShdw blurRad="63500" sx="103000" sy="103000" algn="ctr" rotWithShape="0">
              <a:schemeClr val="accent1">
                <a:alpha val="27000"/>
              </a:schemeClr>
            </a:outerShdw>
            <a:reflection stA="0" endPos="65000" dist="508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4E9D02-2238-6199-9E86-AA4D7AD28F58}"/>
              </a:ext>
            </a:extLst>
          </p:cNvPr>
          <p:cNvSpPr/>
          <p:nvPr/>
        </p:nvSpPr>
        <p:spPr>
          <a:xfrm>
            <a:off x="684395" y="4409721"/>
            <a:ext cx="4450247" cy="3240721"/>
          </a:xfrm>
          <a:prstGeom prst="roundRect">
            <a:avLst/>
          </a:prstGeom>
          <a:effectLst>
            <a:glow rad="304800">
              <a:schemeClr val="accent1">
                <a:alpha val="40000"/>
              </a:schemeClr>
            </a:glow>
            <a:outerShdw blurRad="215900" dir="21540000" algn="ctr" rotWithShape="0">
              <a:prstClr val="black">
                <a:alpha val="38000"/>
              </a:prstClr>
            </a:outerShdw>
            <a:reflection stA="0" dist="7112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85E715A-41C2-1E71-7D57-ABBD44B8C208}"/>
              </a:ext>
            </a:extLst>
          </p:cNvPr>
          <p:cNvSpPr/>
          <p:nvPr/>
        </p:nvSpPr>
        <p:spPr>
          <a:xfrm>
            <a:off x="793790" y="2189104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850"/>
              </a:lnSpc>
            </a:pPr>
            <a:r>
              <a:rPr lang="en-US" sz="6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Portal &amp; Placement Site</a:t>
            </a:r>
          </a:p>
          <a:p>
            <a:pPr algn="ctr">
              <a:lnSpc>
                <a:spcPts val="5850"/>
              </a:lnSpc>
            </a:pPr>
            <a:r>
              <a:rPr lang="en-US" sz="4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Administrator Module</a:t>
            </a:r>
          </a:p>
          <a:p>
            <a:pPr algn="ctr">
              <a:lnSpc>
                <a:spcPts val="5850"/>
              </a:lnSpc>
            </a:pPr>
            <a:r>
              <a:rPr lang="en-US" sz="48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endParaRPr lang="en-US" sz="465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0F7ECC-F6AD-F50E-036F-4494C9E2EDE6}"/>
              </a:ext>
            </a:extLst>
          </p:cNvPr>
          <p:cNvSpPr/>
          <p:nvPr/>
        </p:nvSpPr>
        <p:spPr>
          <a:xfrm>
            <a:off x="1265358" y="4888232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Team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EC554B-0924-E59F-C27A-8D881EF17238}"/>
              </a:ext>
            </a:extLst>
          </p:cNvPr>
          <p:cNvSpPr/>
          <p:nvPr/>
        </p:nvSpPr>
        <p:spPr>
          <a:xfrm>
            <a:off x="1265358" y="5620330"/>
            <a:ext cx="3711303" cy="201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Siddharth </a:t>
            </a:r>
            <a:r>
              <a:rPr lang="en-US" sz="2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Karmokar</a:t>
            </a:r>
            <a:endParaRPr lang="en-US" sz="24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Rushikesh </a:t>
            </a:r>
            <a:r>
              <a:rPr lang="en-US" sz="2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Iche</a:t>
            </a:r>
            <a:endParaRPr lang="en-US" sz="24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Gaurav Singh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Rineet Pandey</a:t>
            </a:r>
            <a:endParaRPr lang="en-US" sz="240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2A6F1D1-442F-62CB-AA2C-AA6DF1D26542}"/>
              </a:ext>
            </a:extLst>
          </p:cNvPr>
          <p:cNvSpPr/>
          <p:nvPr/>
        </p:nvSpPr>
        <p:spPr>
          <a:xfrm>
            <a:off x="9178724" y="5172790"/>
            <a:ext cx="3912243" cy="2015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Project Supervisor: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3200" b="1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Prof. Dr. V. Siva Rama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800" dirty="0" err="1">
                <a:solidFill>
                  <a:srgbClr val="383838"/>
                </a:solidFill>
                <a:latin typeface="DM Sans" pitchFamily="34" charset="0"/>
              </a:rPr>
              <a:t>Krishniah</a:t>
            </a:r>
            <a:endParaRPr lang="en-US" sz="2800" dirty="0">
              <a:solidFill>
                <a:srgbClr val="383838"/>
              </a:solidFill>
              <a:latin typeface="DM Sans" pitchFamily="34" charset="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8BF5B-D75D-F32A-8B21-14DE60411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033" y="127321"/>
            <a:ext cx="2003050" cy="194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0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object 20">
            <a:extLst>
              <a:ext uri="{FF2B5EF4-FFF2-40B4-BE49-F238E27FC236}">
                <a16:creationId xmlns:a16="http://schemas.microsoft.com/office/drawing/2014/main" id="{0E1F93EB-629B-DB3A-72B0-E29B190ED14D}"/>
              </a:ext>
            </a:extLst>
          </p:cNvPr>
          <p:cNvGrpSpPr/>
          <p:nvPr/>
        </p:nvGrpSpPr>
        <p:grpSpPr>
          <a:xfrm>
            <a:off x="10079421" y="3678555"/>
            <a:ext cx="3972366" cy="3697604"/>
            <a:chOff x="7952219" y="2551175"/>
            <a:chExt cx="3804285" cy="3697604"/>
          </a:xfrm>
        </p:grpSpPr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B832917B-C4EA-EB04-8045-E2AEBDE936A6}"/>
                </a:ext>
              </a:extLst>
            </p:cNvPr>
            <p:cNvSpPr/>
            <p:nvPr/>
          </p:nvSpPr>
          <p:spPr>
            <a:xfrm>
              <a:off x="7952219" y="2551175"/>
              <a:ext cx="3804285" cy="3697604"/>
            </a:xfrm>
            <a:custGeom>
              <a:avLst/>
              <a:gdLst/>
              <a:ahLst/>
              <a:cxnLst/>
              <a:rect l="l" t="t" r="r" b="b"/>
              <a:pathLst>
                <a:path w="3804284" h="3697604">
                  <a:moveTo>
                    <a:pt x="3803904" y="0"/>
                  </a:moveTo>
                  <a:lnTo>
                    <a:pt x="3620643" y="0"/>
                  </a:lnTo>
                  <a:lnTo>
                    <a:pt x="3620643" y="192024"/>
                  </a:lnTo>
                  <a:lnTo>
                    <a:pt x="3620643" y="3316224"/>
                  </a:lnTo>
                  <a:lnTo>
                    <a:pt x="3612667" y="3356330"/>
                  </a:lnTo>
                  <a:lnTo>
                    <a:pt x="3589959" y="3390315"/>
                  </a:lnTo>
                  <a:lnTo>
                    <a:pt x="3555962" y="3413023"/>
                  </a:lnTo>
                  <a:lnTo>
                    <a:pt x="3515868" y="3420999"/>
                  </a:lnTo>
                  <a:lnTo>
                    <a:pt x="286893" y="3420999"/>
                  </a:lnTo>
                  <a:lnTo>
                    <a:pt x="246799" y="3413023"/>
                  </a:lnTo>
                  <a:lnTo>
                    <a:pt x="212813" y="3390315"/>
                  </a:lnTo>
                  <a:lnTo>
                    <a:pt x="190093" y="3356330"/>
                  </a:lnTo>
                  <a:lnTo>
                    <a:pt x="182118" y="3316224"/>
                  </a:lnTo>
                  <a:lnTo>
                    <a:pt x="182118" y="192024"/>
                  </a:lnTo>
                  <a:lnTo>
                    <a:pt x="190093" y="151930"/>
                  </a:lnTo>
                  <a:lnTo>
                    <a:pt x="212813" y="117944"/>
                  </a:lnTo>
                  <a:lnTo>
                    <a:pt x="246799" y="95224"/>
                  </a:lnTo>
                  <a:lnTo>
                    <a:pt x="286893" y="87249"/>
                  </a:lnTo>
                  <a:lnTo>
                    <a:pt x="3515868" y="87249"/>
                  </a:lnTo>
                  <a:lnTo>
                    <a:pt x="3555962" y="95224"/>
                  </a:lnTo>
                  <a:lnTo>
                    <a:pt x="3589959" y="117944"/>
                  </a:lnTo>
                  <a:lnTo>
                    <a:pt x="3612667" y="151930"/>
                  </a:lnTo>
                  <a:lnTo>
                    <a:pt x="3620643" y="192024"/>
                  </a:lnTo>
                  <a:lnTo>
                    <a:pt x="3620643" y="0"/>
                  </a:lnTo>
                  <a:lnTo>
                    <a:pt x="0" y="0"/>
                  </a:lnTo>
                  <a:lnTo>
                    <a:pt x="0" y="3697224"/>
                  </a:lnTo>
                  <a:lnTo>
                    <a:pt x="3803904" y="3697224"/>
                  </a:lnTo>
                  <a:lnTo>
                    <a:pt x="3803904" y="3420999"/>
                  </a:lnTo>
                  <a:lnTo>
                    <a:pt x="3803904" y="87249"/>
                  </a:lnTo>
                  <a:lnTo>
                    <a:pt x="380390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61DF73ED-3B07-3706-BEC0-4F92B531FF03}"/>
                </a:ext>
              </a:extLst>
            </p:cNvPr>
            <p:cNvSpPr/>
            <p:nvPr/>
          </p:nvSpPr>
          <p:spPr>
            <a:xfrm>
              <a:off x="8143874" y="2628899"/>
              <a:ext cx="3438525" cy="3352800"/>
            </a:xfrm>
            <a:custGeom>
              <a:avLst/>
              <a:gdLst/>
              <a:ahLst/>
              <a:cxnLst/>
              <a:rect l="l" t="t" r="r" b="b"/>
              <a:pathLst>
                <a:path w="3438525" h="3352800">
                  <a:moveTo>
                    <a:pt x="3331729" y="3352799"/>
                  </a:moveTo>
                  <a:lnTo>
                    <a:pt x="88995" y="3352799"/>
                  </a:lnTo>
                  <a:lnTo>
                    <a:pt x="82801" y="3352067"/>
                  </a:lnTo>
                  <a:lnTo>
                    <a:pt x="37131" y="3329366"/>
                  </a:lnTo>
                  <a:lnTo>
                    <a:pt x="12577" y="3295760"/>
                  </a:lnTo>
                  <a:lnTo>
                    <a:pt x="610" y="3253437"/>
                  </a:lnTo>
                  <a:lnTo>
                    <a:pt x="0" y="3246004"/>
                  </a:lnTo>
                  <a:lnTo>
                    <a:pt x="0" y="32384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3331729" y="0"/>
                  </a:lnTo>
                  <a:lnTo>
                    <a:pt x="3374898" y="11572"/>
                  </a:lnTo>
                  <a:lnTo>
                    <a:pt x="3410353" y="38784"/>
                  </a:lnTo>
                  <a:lnTo>
                    <a:pt x="3432695" y="77493"/>
                  </a:lnTo>
                  <a:lnTo>
                    <a:pt x="3438524" y="106794"/>
                  </a:lnTo>
                  <a:lnTo>
                    <a:pt x="3438524" y="3246004"/>
                  </a:lnTo>
                  <a:lnTo>
                    <a:pt x="3426951" y="3289173"/>
                  </a:lnTo>
                  <a:lnTo>
                    <a:pt x="3399739" y="3324628"/>
                  </a:lnTo>
                  <a:lnTo>
                    <a:pt x="3361031" y="3346970"/>
                  </a:lnTo>
                  <a:lnTo>
                    <a:pt x="3339162" y="3352067"/>
                  </a:lnTo>
                  <a:lnTo>
                    <a:pt x="3331729" y="3352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24">
              <a:extLst>
                <a:ext uri="{FF2B5EF4-FFF2-40B4-BE49-F238E27FC236}">
                  <a16:creationId xmlns:a16="http://schemas.microsoft.com/office/drawing/2014/main" id="{9FF3E2A9-484E-238A-26AC-299ACE8C5B5A}"/>
                </a:ext>
              </a:extLst>
            </p:cNvPr>
            <p:cNvSpPr/>
            <p:nvPr/>
          </p:nvSpPr>
          <p:spPr>
            <a:xfrm>
              <a:off x="8124823" y="2628899"/>
              <a:ext cx="114300" cy="3352800"/>
            </a:xfrm>
            <a:custGeom>
              <a:avLst/>
              <a:gdLst/>
              <a:ahLst/>
              <a:cxnLst/>
              <a:rect l="l" t="t" r="r" b="b"/>
              <a:pathLst>
                <a:path w="114300" h="3352800">
                  <a:moveTo>
                    <a:pt x="114300" y="3352799"/>
                  </a:moveTo>
                  <a:lnTo>
                    <a:pt x="70558" y="3344098"/>
                  </a:lnTo>
                  <a:lnTo>
                    <a:pt x="33476" y="3319321"/>
                  </a:lnTo>
                  <a:lnTo>
                    <a:pt x="8699" y="3282239"/>
                  </a:lnTo>
                  <a:lnTo>
                    <a:pt x="0" y="3238499"/>
                  </a:lnTo>
                  <a:lnTo>
                    <a:pt x="0" y="114300"/>
                  </a:lnTo>
                  <a:lnTo>
                    <a:pt x="8699" y="70559"/>
                  </a:lnTo>
                  <a:lnTo>
                    <a:pt x="33476" y="33477"/>
                  </a:lnTo>
                  <a:lnTo>
                    <a:pt x="70558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1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3238499"/>
                  </a:lnTo>
                  <a:lnTo>
                    <a:pt x="43899" y="3282239"/>
                  </a:lnTo>
                  <a:lnTo>
                    <a:pt x="60417" y="3319321"/>
                  </a:lnTo>
                  <a:lnTo>
                    <a:pt x="92212" y="3347904"/>
                  </a:lnTo>
                  <a:lnTo>
                    <a:pt x="106793" y="3352255"/>
                  </a:lnTo>
                  <a:lnTo>
                    <a:pt x="114300" y="3352799"/>
                  </a:lnTo>
                  <a:close/>
                </a:path>
              </a:pathLst>
            </a:custGeom>
            <a:solidFill>
              <a:srgbClr val="E9B3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5">
              <a:extLst>
                <a:ext uri="{FF2B5EF4-FFF2-40B4-BE49-F238E27FC236}">
                  <a16:creationId xmlns:a16="http://schemas.microsoft.com/office/drawing/2014/main" id="{26D1CAB8-3E94-2B0A-1986-563C2B558D90}"/>
                </a:ext>
              </a:extLst>
            </p:cNvPr>
            <p:cNvSpPr/>
            <p:nvPr/>
          </p:nvSpPr>
          <p:spPr>
            <a:xfrm>
              <a:off x="8467724" y="29336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4"/>
                  </a:lnTo>
                  <a:lnTo>
                    <a:pt x="405537" y="453314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EF9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26">
              <a:extLst>
                <a:ext uri="{FF2B5EF4-FFF2-40B4-BE49-F238E27FC236}">
                  <a16:creationId xmlns:a16="http://schemas.microsoft.com/office/drawing/2014/main" id="{72C8E337-92BF-5A52-F1F1-3BE7AFFD21A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025" y="3073399"/>
              <a:ext cx="196850" cy="168275"/>
            </a:xfrm>
            <a:prstGeom prst="rect">
              <a:avLst/>
            </a:prstGeom>
          </p:spPr>
        </p:pic>
      </p:grpSp>
      <p:grpSp>
        <p:nvGrpSpPr>
          <p:cNvPr id="30" name="object 12">
            <a:extLst>
              <a:ext uri="{FF2B5EF4-FFF2-40B4-BE49-F238E27FC236}">
                <a16:creationId xmlns:a16="http://schemas.microsoft.com/office/drawing/2014/main" id="{1A8F9E33-10E1-4072-D124-B3D64F76E880}"/>
              </a:ext>
            </a:extLst>
          </p:cNvPr>
          <p:cNvGrpSpPr/>
          <p:nvPr/>
        </p:nvGrpSpPr>
        <p:grpSpPr>
          <a:xfrm>
            <a:off x="5384584" y="3645227"/>
            <a:ext cx="4107596" cy="3697604"/>
            <a:chOff x="4200144" y="2551175"/>
            <a:chExt cx="3792220" cy="3697604"/>
          </a:xfrm>
        </p:grpSpPr>
        <p:sp>
          <p:nvSpPr>
            <p:cNvPr id="31" name="object 13">
              <a:extLst>
                <a:ext uri="{FF2B5EF4-FFF2-40B4-BE49-F238E27FC236}">
                  <a16:creationId xmlns:a16="http://schemas.microsoft.com/office/drawing/2014/main" id="{16BF9697-F51F-EC70-7F35-00F497F2898F}"/>
                </a:ext>
              </a:extLst>
            </p:cNvPr>
            <p:cNvSpPr/>
            <p:nvPr/>
          </p:nvSpPr>
          <p:spPr>
            <a:xfrm>
              <a:off x="4200131" y="2551175"/>
              <a:ext cx="3792220" cy="3697604"/>
            </a:xfrm>
            <a:custGeom>
              <a:avLst/>
              <a:gdLst/>
              <a:ahLst/>
              <a:cxnLst/>
              <a:rect l="l" t="t" r="r" b="b"/>
              <a:pathLst>
                <a:path w="3792220" h="3697604">
                  <a:moveTo>
                    <a:pt x="3791712" y="0"/>
                  </a:moveTo>
                  <a:lnTo>
                    <a:pt x="3610356" y="0"/>
                  </a:lnTo>
                  <a:lnTo>
                    <a:pt x="3610356" y="192024"/>
                  </a:lnTo>
                  <a:lnTo>
                    <a:pt x="3610356" y="3316224"/>
                  </a:lnTo>
                  <a:lnTo>
                    <a:pt x="3602380" y="3356330"/>
                  </a:lnTo>
                  <a:lnTo>
                    <a:pt x="3579672" y="3390315"/>
                  </a:lnTo>
                  <a:lnTo>
                    <a:pt x="3545675" y="3413023"/>
                  </a:lnTo>
                  <a:lnTo>
                    <a:pt x="3505581" y="3420999"/>
                  </a:lnTo>
                  <a:lnTo>
                    <a:pt x="286131" y="3420999"/>
                  </a:lnTo>
                  <a:lnTo>
                    <a:pt x="246037" y="3413023"/>
                  </a:lnTo>
                  <a:lnTo>
                    <a:pt x="212051" y="3390315"/>
                  </a:lnTo>
                  <a:lnTo>
                    <a:pt x="189331" y="3356330"/>
                  </a:lnTo>
                  <a:lnTo>
                    <a:pt x="181356" y="3316224"/>
                  </a:lnTo>
                  <a:lnTo>
                    <a:pt x="181356" y="192024"/>
                  </a:lnTo>
                  <a:lnTo>
                    <a:pt x="189331" y="151930"/>
                  </a:lnTo>
                  <a:lnTo>
                    <a:pt x="212051" y="117944"/>
                  </a:lnTo>
                  <a:lnTo>
                    <a:pt x="246037" y="95224"/>
                  </a:lnTo>
                  <a:lnTo>
                    <a:pt x="286131" y="87249"/>
                  </a:lnTo>
                  <a:lnTo>
                    <a:pt x="3505581" y="87249"/>
                  </a:lnTo>
                  <a:lnTo>
                    <a:pt x="3545675" y="95224"/>
                  </a:lnTo>
                  <a:lnTo>
                    <a:pt x="3579672" y="117944"/>
                  </a:lnTo>
                  <a:lnTo>
                    <a:pt x="3602380" y="151930"/>
                  </a:lnTo>
                  <a:lnTo>
                    <a:pt x="3610356" y="192024"/>
                  </a:lnTo>
                  <a:lnTo>
                    <a:pt x="3610356" y="0"/>
                  </a:lnTo>
                  <a:lnTo>
                    <a:pt x="0" y="0"/>
                  </a:lnTo>
                  <a:lnTo>
                    <a:pt x="0" y="3697224"/>
                  </a:lnTo>
                  <a:lnTo>
                    <a:pt x="3791712" y="3697224"/>
                  </a:lnTo>
                  <a:lnTo>
                    <a:pt x="3791712" y="3420999"/>
                  </a:lnTo>
                  <a:lnTo>
                    <a:pt x="3791712" y="87249"/>
                  </a:lnTo>
                  <a:lnTo>
                    <a:pt x="3791712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A96CFCFE-8CEF-A33D-38FC-AB028688EA64}"/>
                </a:ext>
              </a:extLst>
            </p:cNvPr>
            <p:cNvSpPr/>
            <p:nvPr/>
          </p:nvSpPr>
          <p:spPr>
            <a:xfrm>
              <a:off x="4391024" y="2628899"/>
              <a:ext cx="3429000" cy="3352800"/>
            </a:xfrm>
            <a:custGeom>
              <a:avLst/>
              <a:gdLst/>
              <a:ahLst/>
              <a:cxnLst/>
              <a:rect l="l" t="t" r="r" b="b"/>
              <a:pathLst>
                <a:path w="3429000" h="3352800">
                  <a:moveTo>
                    <a:pt x="3322204" y="3352799"/>
                  </a:moveTo>
                  <a:lnTo>
                    <a:pt x="88995" y="3352799"/>
                  </a:lnTo>
                  <a:lnTo>
                    <a:pt x="82801" y="3352067"/>
                  </a:lnTo>
                  <a:lnTo>
                    <a:pt x="37131" y="3329366"/>
                  </a:lnTo>
                  <a:lnTo>
                    <a:pt x="12577" y="3295760"/>
                  </a:lnTo>
                  <a:lnTo>
                    <a:pt x="610" y="3253437"/>
                  </a:lnTo>
                  <a:lnTo>
                    <a:pt x="0" y="3246004"/>
                  </a:lnTo>
                  <a:lnTo>
                    <a:pt x="0" y="3238499"/>
                  </a:lnTo>
                  <a:lnTo>
                    <a:pt x="0" y="106794"/>
                  </a:lnTo>
                  <a:lnTo>
                    <a:pt x="9643" y="63625"/>
                  </a:lnTo>
                  <a:lnTo>
                    <a:pt x="32320" y="28170"/>
                  </a:lnTo>
                  <a:lnTo>
                    <a:pt x="64577" y="5828"/>
                  </a:lnTo>
                  <a:lnTo>
                    <a:pt x="88995" y="0"/>
                  </a:lnTo>
                  <a:lnTo>
                    <a:pt x="3322204" y="0"/>
                  </a:lnTo>
                  <a:lnTo>
                    <a:pt x="3365373" y="11572"/>
                  </a:lnTo>
                  <a:lnTo>
                    <a:pt x="3400828" y="38784"/>
                  </a:lnTo>
                  <a:lnTo>
                    <a:pt x="3423170" y="77493"/>
                  </a:lnTo>
                  <a:lnTo>
                    <a:pt x="3428999" y="106794"/>
                  </a:lnTo>
                  <a:lnTo>
                    <a:pt x="3428999" y="3246004"/>
                  </a:lnTo>
                  <a:lnTo>
                    <a:pt x="3417426" y="3289173"/>
                  </a:lnTo>
                  <a:lnTo>
                    <a:pt x="3390214" y="3324628"/>
                  </a:lnTo>
                  <a:lnTo>
                    <a:pt x="3351506" y="3346970"/>
                  </a:lnTo>
                  <a:lnTo>
                    <a:pt x="3329637" y="3352067"/>
                  </a:lnTo>
                  <a:lnTo>
                    <a:pt x="3322204" y="3352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89470663-A9DC-79B1-D7BD-359CE09DDA30}"/>
                </a:ext>
              </a:extLst>
            </p:cNvPr>
            <p:cNvSpPr/>
            <p:nvPr/>
          </p:nvSpPr>
          <p:spPr>
            <a:xfrm>
              <a:off x="4371974" y="2628899"/>
              <a:ext cx="114300" cy="3352800"/>
            </a:xfrm>
            <a:custGeom>
              <a:avLst/>
              <a:gdLst/>
              <a:ahLst/>
              <a:cxnLst/>
              <a:rect l="l" t="t" r="r" b="b"/>
              <a:pathLst>
                <a:path w="114300" h="3352800">
                  <a:moveTo>
                    <a:pt x="114300" y="3352799"/>
                  </a:moveTo>
                  <a:lnTo>
                    <a:pt x="70558" y="3344098"/>
                  </a:lnTo>
                  <a:lnTo>
                    <a:pt x="33477" y="3319321"/>
                  </a:lnTo>
                  <a:lnTo>
                    <a:pt x="8700" y="3282239"/>
                  </a:lnTo>
                  <a:lnTo>
                    <a:pt x="0" y="3238499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3238499"/>
                  </a:lnTo>
                  <a:lnTo>
                    <a:pt x="43900" y="3282239"/>
                  </a:lnTo>
                  <a:lnTo>
                    <a:pt x="60418" y="3319321"/>
                  </a:lnTo>
                  <a:lnTo>
                    <a:pt x="92212" y="3347904"/>
                  </a:lnTo>
                  <a:lnTo>
                    <a:pt x="106793" y="3352255"/>
                  </a:lnTo>
                  <a:lnTo>
                    <a:pt x="114300" y="3352799"/>
                  </a:lnTo>
                  <a:close/>
                </a:path>
              </a:pathLst>
            </a:custGeom>
            <a:solidFill>
              <a:srgbClr val="F9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6">
              <a:extLst>
                <a:ext uri="{FF2B5EF4-FFF2-40B4-BE49-F238E27FC236}">
                  <a16:creationId xmlns:a16="http://schemas.microsoft.com/office/drawing/2014/main" id="{E594F0DC-D201-3E3D-AC53-B64C87DB175F}"/>
                </a:ext>
              </a:extLst>
            </p:cNvPr>
            <p:cNvSpPr/>
            <p:nvPr/>
          </p:nvSpPr>
          <p:spPr>
            <a:xfrm>
              <a:off x="4714874" y="29336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199" y="71196"/>
                  </a:lnTo>
                  <a:lnTo>
                    <a:pt x="457199" y="386003"/>
                  </a:lnTo>
                  <a:lnTo>
                    <a:pt x="441578" y="427494"/>
                  </a:lnTo>
                  <a:lnTo>
                    <a:pt x="405537" y="453314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17">
              <a:extLst>
                <a:ext uri="{FF2B5EF4-FFF2-40B4-BE49-F238E27FC236}">
                  <a16:creationId xmlns:a16="http://schemas.microsoft.com/office/drawing/2014/main" id="{3CD0DF65-A18C-D991-DEF5-D6ED1EC5CB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4950" y="3060699"/>
              <a:ext cx="190500" cy="193675"/>
            </a:xfrm>
            <a:prstGeom prst="rect">
              <a:avLst/>
            </a:prstGeom>
          </p:spPr>
        </p:pic>
      </p:grpSp>
      <p:sp>
        <p:nvSpPr>
          <p:cNvPr id="2" name="Text 0"/>
          <p:cNvSpPr/>
          <p:nvPr/>
        </p:nvSpPr>
        <p:spPr>
          <a:xfrm>
            <a:off x="793790" y="1351240"/>
            <a:ext cx="71038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dirty="0">
                <a:solidFill>
                  <a:srgbClr val="020202"/>
                </a:solidFill>
                <a:ea typeface="PT Serif" pitchFamily="34" charset="-122"/>
                <a:cs typeface="Arial" panose="020B0604020202020204" pitchFamily="34" charset="0"/>
              </a:rPr>
              <a:t>                           </a:t>
            </a:r>
            <a:r>
              <a:rPr lang="en-US" sz="6600" u="sng" dirty="0">
                <a:solidFill>
                  <a:srgbClr val="020202"/>
                </a:solidFill>
                <a:ea typeface="PT Serif" pitchFamily="34" charset="-122"/>
                <a:cs typeface="Arial" panose="020B0604020202020204" pitchFamily="34" charset="0"/>
              </a:rPr>
              <a:t>Introduction: The Problem</a:t>
            </a:r>
            <a:endParaRPr lang="en-US" sz="6600" u="sng" dirty="0"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0604" y="2381842"/>
            <a:ext cx="12637523" cy="977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traditional campus placement process remains fundamentally manual, creating           significant operational challenges that impact both efficiency and accuracy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20604" y="4042886"/>
            <a:ext cx="36535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         Time – Intensive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          Verification</a:t>
            </a:r>
          </a:p>
        </p:txBody>
      </p:sp>
      <p:sp>
        <p:nvSpPr>
          <p:cNvPr id="6" name="Text 4"/>
          <p:cNvSpPr/>
          <p:nvPr/>
        </p:nvSpPr>
        <p:spPr>
          <a:xfrm>
            <a:off x="1302568" y="4919241"/>
            <a:ext cx="2991639" cy="1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Coordinators manually verify student eligibility criteria for each company, consuming valuable hours that could be spent on strategic activities.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443776" y="40428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 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Fragmented Data</a:t>
            </a:r>
          </a:p>
        </p:txBody>
      </p:sp>
      <p:sp>
        <p:nvSpPr>
          <p:cNvPr id="9" name="Text 7"/>
          <p:cNvSpPr/>
          <p:nvPr/>
        </p:nvSpPr>
        <p:spPr>
          <a:xfrm>
            <a:off x="5958973" y="4701297"/>
            <a:ext cx="3225662" cy="2051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information is scattered across multiple spreadsheets, email threads, and physical documents with no single source of truth.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66948" y="4042886"/>
            <a:ext cx="31226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               </a:t>
            </a:r>
            <a:r>
              <a:rPr lang="en-US" sz="24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  Error-Prone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	       </a:t>
            </a:r>
            <a:r>
              <a:rPr lang="en-US" sz="2300" dirty="0">
                <a:solidFill>
                  <a:srgbClr val="383838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Operations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82812" y="4919241"/>
            <a:ext cx="3299638" cy="144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data entry and processing creates operational bottlenecks and increases the risk of costly human errors in student placements.</a:t>
            </a:r>
            <a:endParaRPr lang="en-US" sz="1750" dirty="0"/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A247FA1E-0027-68E2-AE9D-F4D748BCDC20}"/>
              </a:ext>
            </a:extLst>
          </p:cNvPr>
          <p:cNvGrpSpPr/>
          <p:nvPr/>
        </p:nvGrpSpPr>
        <p:grpSpPr>
          <a:xfrm>
            <a:off x="723899" y="3645227"/>
            <a:ext cx="4073416" cy="3697604"/>
            <a:chOff x="435851" y="2551175"/>
            <a:chExt cx="3804285" cy="3697604"/>
          </a:xfrm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18ED9BEA-693E-9A17-12FE-2FC53CD9A47D}"/>
                </a:ext>
              </a:extLst>
            </p:cNvPr>
            <p:cNvSpPr/>
            <p:nvPr/>
          </p:nvSpPr>
          <p:spPr>
            <a:xfrm>
              <a:off x="435851" y="2551175"/>
              <a:ext cx="3804285" cy="3697604"/>
            </a:xfrm>
            <a:custGeom>
              <a:avLst/>
              <a:gdLst/>
              <a:ahLst/>
              <a:cxnLst/>
              <a:rect l="l" t="t" r="r" b="b"/>
              <a:pathLst>
                <a:path w="3804285" h="3697604">
                  <a:moveTo>
                    <a:pt x="3803904" y="0"/>
                  </a:moveTo>
                  <a:lnTo>
                    <a:pt x="3621786" y="0"/>
                  </a:lnTo>
                  <a:lnTo>
                    <a:pt x="3621786" y="192024"/>
                  </a:lnTo>
                  <a:lnTo>
                    <a:pt x="3621786" y="3316224"/>
                  </a:lnTo>
                  <a:lnTo>
                    <a:pt x="3613810" y="3356330"/>
                  </a:lnTo>
                  <a:lnTo>
                    <a:pt x="3591102" y="3390315"/>
                  </a:lnTo>
                  <a:lnTo>
                    <a:pt x="3557117" y="3413023"/>
                  </a:lnTo>
                  <a:lnTo>
                    <a:pt x="3517011" y="3420999"/>
                  </a:lnTo>
                  <a:lnTo>
                    <a:pt x="288036" y="3420999"/>
                  </a:lnTo>
                  <a:lnTo>
                    <a:pt x="247942" y="3413023"/>
                  </a:lnTo>
                  <a:lnTo>
                    <a:pt x="213956" y="3390315"/>
                  </a:lnTo>
                  <a:lnTo>
                    <a:pt x="191236" y="3356330"/>
                  </a:lnTo>
                  <a:lnTo>
                    <a:pt x="183261" y="3316224"/>
                  </a:lnTo>
                  <a:lnTo>
                    <a:pt x="183261" y="192024"/>
                  </a:lnTo>
                  <a:lnTo>
                    <a:pt x="191236" y="151930"/>
                  </a:lnTo>
                  <a:lnTo>
                    <a:pt x="213956" y="117944"/>
                  </a:lnTo>
                  <a:lnTo>
                    <a:pt x="247942" y="95224"/>
                  </a:lnTo>
                  <a:lnTo>
                    <a:pt x="288036" y="87249"/>
                  </a:lnTo>
                  <a:lnTo>
                    <a:pt x="3517011" y="87249"/>
                  </a:lnTo>
                  <a:lnTo>
                    <a:pt x="3557117" y="95224"/>
                  </a:lnTo>
                  <a:lnTo>
                    <a:pt x="3591102" y="117944"/>
                  </a:lnTo>
                  <a:lnTo>
                    <a:pt x="3613810" y="151930"/>
                  </a:lnTo>
                  <a:lnTo>
                    <a:pt x="3621786" y="192024"/>
                  </a:lnTo>
                  <a:lnTo>
                    <a:pt x="3621786" y="0"/>
                  </a:lnTo>
                  <a:lnTo>
                    <a:pt x="0" y="0"/>
                  </a:lnTo>
                  <a:lnTo>
                    <a:pt x="0" y="3697224"/>
                  </a:lnTo>
                  <a:lnTo>
                    <a:pt x="3803904" y="3697224"/>
                  </a:lnTo>
                  <a:lnTo>
                    <a:pt x="3803904" y="3420999"/>
                  </a:lnTo>
                  <a:lnTo>
                    <a:pt x="3803904" y="87249"/>
                  </a:lnTo>
                  <a:lnTo>
                    <a:pt x="3803904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7">
              <a:extLst>
                <a:ext uri="{FF2B5EF4-FFF2-40B4-BE49-F238E27FC236}">
                  <a16:creationId xmlns:a16="http://schemas.microsoft.com/office/drawing/2014/main" id="{869CB330-5108-AEED-4332-6845A39417E1}"/>
                </a:ext>
              </a:extLst>
            </p:cNvPr>
            <p:cNvSpPr/>
            <p:nvPr/>
          </p:nvSpPr>
          <p:spPr>
            <a:xfrm>
              <a:off x="609599" y="2628899"/>
              <a:ext cx="114300" cy="3352800"/>
            </a:xfrm>
            <a:custGeom>
              <a:avLst/>
              <a:gdLst/>
              <a:ahLst/>
              <a:cxnLst/>
              <a:rect l="l" t="t" r="r" b="b"/>
              <a:pathLst>
                <a:path w="114300" h="3352800">
                  <a:moveTo>
                    <a:pt x="114300" y="3352799"/>
                  </a:moveTo>
                  <a:lnTo>
                    <a:pt x="70559" y="3344098"/>
                  </a:lnTo>
                  <a:lnTo>
                    <a:pt x="33477" y="3319321"/>
                  </a:lnTo>
                  <a:lnTo>
                    <a:pt x="8700" y="3282239"/>
                  </a:lnTo>
                  <a:lnTo>
                    <a:pt x="0" y="3238499"/>
                  </a:lnTo>
                  <a:lnTo>
                    <a:pt x="0" y="114300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300" y="0"/>
                  </a:lnTo>
                  <a:lnTo>
                    <a:pt x="106793" y="543"/>
                  </a:lnTo>
                  <a:lnTo>
                    <a:pt x="99431" y="2175"/>
                  </a:lnTo>
                  <a:lnTo>
                    <a:pt x="65982" y="25900"/>
                  </a:lnTo>
                  <a:lnTo>
                    <a:pt x="47107" y="60364"/>
                  </a:lnTo>
                  <a:lnTo>
                    <a:pt x="38462" y="103040"/>
                  </a:lnTo>
                  <a:lnTo>
                    <a:pt x="38100" y="114300"/>
                  </a:lnTo>
                  <a:lnTo>
                    <a:pt x="38100" y="3238499"/>
                  </a:lnTo>
                  <a:lnTo>
                    <a:pt x="43900" y="3282239"/>
                  </a:lnTo>
                  <a:lnTo>
                    <a:pt x="60418" y="3319321"/>
                  </a:lnTo>
                  <a:lnTo>
                    <a:pt x="92213" y="3347904"/>
                  </a:lnTo>
                  <a:lnTo>
                    <a:pt x="106793" y="3352255"/>
                  </a:lnTo>
                  <a:lnTo>
                    <a:pt x="114300" y="33527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8">
              <a:extLst>
                <a:ext uri="{FF2B5EF4-FFF2-40B4-BE49-F238E27FC236}">
                  <a16:creationId xmlns:a16="http://schemas.microsoft.com/office/drawing/2014/main" id="{D0DB09C7-B279-5104-FE31-D24149A408B2}"/>
                </a:ext>
              </a:extLst>
            </p:cNvPr>
            <p:cNvSpPr/>
            <p:nvPr/>
          </p:nvSpPr>
          <p:spPr>
            <a:xfrm>
              <a:off x="952499" y="2971799"/>
              <a:ext cx="409575" cy="457200"/>
            </a:xfrm>
            <a:custGeom>
              <a:avLst/>
              <a:gdLst/>
              <a:ahLst/>
              <a:cxnLst/>
              <a:rect l="l" t="t" r="r" b="b"/>
              <a:pathLst>
                <a:path w="409575" h="457200">
                  <a:moveTo>
                    <a:pt x="338378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338378" y="0"/>
                  </a:lnTo>
                  <a:lnTo>
                    <a:pt x="379869" y="15621"/>
                  </a:lnTo>
                  <a:lnTo>
                    <a:pt x="405689" y="51661"/>
                  </a:lnTo>
                  <a:lnTo>
                    <a:pt x="409574" y="71196"/>
                  </a:lnTo>
                  <a:lnTo>
                    <a:pt x="409574" y="386003"/>
                  </a:lnTo>
                  <a:lnTo>
                    <a:pt x="393953" y="427494"/>
                  </a:lnTo>
                  <a:lnTo>
                    <a:pt x="357912" y="453314"/>
                  </a:lnTo>
                  <a:lnTo>
                    <a:pt x="343333" y="456711"/>
                  </a:lnTo>
                  <a:lnTo>
                    <a:pt x="338378" y="4571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9" name="object 9">
              <a:extLst>
                <a:ext uri="{FF2B5EF4-FFF2-40B4-BE49-F238E27FC236}">
                  <a16:creationId xmlns:a16="http://schemas.microsoft.com/office/drawing/2014/main" id="{2729C309-F118-1253-9D20-822E3A5D01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483" y="3098799"/>
              <a:ext cx="190500" cy="193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414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3" y="743188"/>
            <a:ext cx="7390329" cy="66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Solution: Core Objectives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28424" y="1842373"/>
            <a:ext cx="13173551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administrator-side system transforms placement operations through intelligent automation, centralized data management, and powerful administrative tools designed to eliminate inefficiencies.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8424" y="2742248"/>
            <a:ext cx="336447" cy="330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 Rounded MT Bold" panose="020F0704030504030204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8424" y="3073122"/>
            <a:ext cx="425243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28424" y="3222903"/>
            <a:ext cx="290405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Centralize Student Data</a:t>
            </a:r>
            <a:endParaRPr lang="en-US" sz="2150" b="1" dirty="0"/>
          </a:p>
        </p:txBody>
      </p:sp>
      <p:sp>
        <p:nvSpPr>
          <p:cNvPr id="7" name="Text 5"/>
          <p:cNvSpPr/>
          <p:nvPr/>
        </p:nvSpPr>
        <p:spPr>
          <a:xfrm>
            <a:off x="728424" y="3689032"/>
            <a:ext cx="4252436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 a unified repository consolidating all student profiles, academic records, and placement preferences into one secure, accessible location.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8982" y="2742248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 Rounded MT Bold" panose="020F0704030504030204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88982" y="3073122"/>
            <a:ext cx="425243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188982" y="3222903"/>
            <a:ext cx="292977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 Manual Tasks</a:t>
            </a:r>
            <a:endParaRPr lang="en-US" sz="2150" b="1" dirty="0"/>
          </a:p>
        </p:txBody>
      </p:sp>
      <p:sp>
        <p:nvSpPr>
          <p:cNvPr id="11" name="Text 9"/>
          <p:cNvSpPr/>
          <p:nvPr/>
        </p:nvSpPr>
        <p:spPr>
          <a:xfrm>
            <a:off x="5188982" y="3689032"/>
            <a:ext cx="4252436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 repetitive work by automating account initialization workflows and eligibility verification processes based on predefined criteria.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49539" y="2742248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 Rounded MT Bold" panose="020F0704030504030204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49539" y="3073122"/>
            <a:ext cx="425243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649539" y="3222903"/>
            <a:ext cx="276570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Streamline Job Posting</a:t>
            </a:r>
            <a:endParaRPr lang="en-US" sz="2150" b="1" dirty="0"/>
          </a:p>
        </p:txBody>
      </p:sp>
      <p:sp>
        <p:nvSpPr>
          <p:cNvPr id="15" name="Text 13"/>
          <p:cNvSpPr/>
          <p:nvPr/>
        </p:nvSpPr>
        <p:spPr>
          <a:xfrm>
            <a:off x="9649539" y="3689032"/>
            <a:ext cx="4252436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efficient job opportunity creation with seamless Google Form integration for application collection and automated distribution.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424" y="5384840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 Rounded MT Bold" panose="020F0704030504030204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8424" y="5715714"/>
            <a:ext cx="6482715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28424" y="5865495"/>
            <a:ext cx="273165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Provide Master Sheet</a:t>
            </a:r>
            <a:endParaRPr lang="en-US" sz="2150" b="1" dirty="0"/>
          </a:p>
        </p:txBody>
      </p:sp>
      <p:sp>
        <p:nvSpPr>
          <p:cNvPr id="19" name="Text 17"/>
          <p:cNvSpPr/>
          <p:nvPr/>
        </p:nvSpPr>
        <p:spPr>
          <a:xfrm>
            <a:off x="728424" y="6331625"/>
            <a:ext cx="6482715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 comprehensive analytics through a single master sheet that logs all company interactions and tracks student application statuses in real-time.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19261" y="5384840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 Rounded MT Bold" panose="020F0704030504030204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9261" y="5715714"/>
            <a:ext cx="6482715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7419261" y="5865495"/>
            <a:ext cx="273165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Ensure Data Integrity</a:t>
            </a:r>
            <a:endParaRPr lang="en-US" sz="2150" b="1" dirty="0"/>
          </a:p>
        </p:txBody>
      </p:sp>
      <p:sp>
        <p:nvSpPr>
          <p:cNvPr id="23" name="Text 21"/>
          <p:cNvSpPr/>
          <p:nvPr/>
        </p:nvSpPr>
        <p:spPr>
          <a:xfrm>
            <a:off x="7419261" y="6331625"/>
            <a:ext cx="6482715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admin-controlled profile modification protocols after initial student edits to maintain data accuracy and prevent unauthorized changes.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0982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344" y="722850"/>
            <a:ext cx="5767268" cy="720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Technology Stack</a:t>
            </a:r>
            <a:endParaRPr lang="en-US" sz="4500" b="1" dirty="0"/>
          </a:p>
        </p:txBody>
      </p:sp>
      <p:sp>
        <p:nvSpPr>
          <p:cNvPr id="3" name="Text 1"/>
          <p:cNvSpPr/>
          <p:nvPr/>
        </p:nvSpPr>
        <p:spPr>
          <a:xfrm>
            <a:off x="697344" y="1723769"/>
            <a:ext cx="1309258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carefully selected, high-performance technology ecosystem engineered for scalability, security,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optimal user experience.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906" y="3045143"/>
            <a:ext cx="4217670" cy="2346008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906" y="3014663"/>
            <a:ext cx="4217670" cy="121920"/>
          </a:xfrm>
          <a:prstGeom prst="roundRect">
            <a:avLst>
              <a:gd name="adj" fmla="val 27031"/>
            </a:avLst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2548235" y="2715698"/>
            <a:ext cx="750550" cy="628530"/>
          </a:xfrm>
          <a:prstGeom prst="roundRect">
            <a:avLst>
              <a:gd name="adj" fmla="val 138753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  1</a:t>
            </a:r>
          </a:p>
        </p:txBody>
      </p:sp>
      <p:sp>
        <p:nvSpPr>
          <p:cNvPr id="7" name="Text 5"/>
          <p:cNvSpPr/>
          <p:nvPr/>
        </p:nvSpPr>
        <p:spPr>
          <a:xfrm>
            <a:off x="1019056" y="3594378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Frontend Framework</a:t>
            </a:r>
            <a:endParaRPr lang="en-US" sz="2250" b="1" dirty="0"/>
          </a:p>
        </p:txBody>
      </p:sp>
      <p:sp>
        <p:nvSpPr>
          <p:cNvPr id="8" name="Text 6"/>
          <p:cNvSpPr/>
          <p:nvPr/>
        </p:nvSpPr>
        <p:spPr>
          <a:xfrm>
            <a:off x="1019056" y="4086582"/>
            <a:ext cx="3717369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ReactJS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Tailwind CSS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responsive, component-based UI development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06246" y="3045143"/>
            <a:ext cx="4217789" cy="2346008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06246" y="3014663"/>
            <a:ext cx="4217789" cy="121920"/>
          </a:xfrm>
          <a:prstGeom prst="roundRect">
            <a:avLst>
              <a:gd name="adj" fmla="val 27031"/>
            </a:avLst>
          </a:prstGeom>
          <a:solidFill>
            <a:srgbClr val="E04F00"/>
          </a:solidFill>
          <a:ln/>
        </p:spPr>
      </p:sp>
      <p:sp>
        <p:nvSpPr>
          <p:cNvPr id="11" name="Shape 9"/>
          <p:cNvSpPr/>
          <p:nvPr/>
        </p:nvSpPr>
        <p:spPr>
          <a:xfrm>
            <a:off x="6985575" y="2715697"/>
            <a:ext cx="750550" cy="659011"/>
          </a:xfrm>
          <a:prstGeom prst="roundRect">
            <a:avLst>
              <a:gd name="adj" fmla="val 138753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  2</a:t>
            </a:r>
          </a:p>
        </p:txBody>
      </p:sp>
      <p:sp>
        <p:nvSpPr>
          <p:cNvPr id="12" name="Text 10"/>
          <p:cNvSpPr/>
          <p:nvPr/>
        </p:nvSpPr>
        <p:spPr>
          <a:xfrm>
            <a:off x="5456396" y="3594378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API</a:t>
            </a:r>
            <a:endParaRPr lang="en-US" sz="2250" b="1" dirty="0"/>
          </a:p>
        </p:txBody>
      </p:sp>
      <p:sp>
        <p:nvSpPr>
          <p:cNvPr id="13" name="Text 11"/>
          <p:cNvSpPr/>
          <p:nvPr/>
        </p:nvSpPr>
        <p:spPr>
          <a:xfrm>
            <a:off x="5456396" y="4086582"/>
            <a:ext cx="3717488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(Python) delivering high-speed, asynchronous request handling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43705" y="3045143"/>
            <a:ext cx="4217789" cy="2346008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3705" y="3014663"/>
            <a:ext cx="4217789" cy="121920"/>
          </a:xfrm>
          <a:prstGeom prst="roundRect">
            <a:avLst>
              <a:gd name="adj" fmla="val 27031"/>
            </a:avLst>
          </a:prstGeom>
          <a:solidFill>
            <a:srgbClr val="E04F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23035" y="2715697"/>
            <a:ext cx="834555" cy="659011"/>
          </a:xfrm>
          <a:prstGeom prst="roundRect">
            <a:avLst>
              <a:gd name="adj" fmla="val 138753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   3</a:t>
            </a:r>
          </a:p>
        </p:txBody>
      </p:sp>
      <p:sp>
        <p:nvSpPr>
          <p:cNvPr id="17" name="Text 15"/>
          <p:cNvSpPr/>
          <p:nvPr/>
        </p:nvSpPr>
        <p:spPr>
          <a:xfrm>
            <a:off x="9893856" y="3594378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Database System</a:t>
            </a:r>
            <a:endParaRPr lang="en-US" sz="2250" b="1" dirty="0"/>
          </a:p>
        </p:txBody>
      </p:sp>
      <p:sp>
        <p:nvSpPr>
          <p:cNvPr id="18" name="Text 16"/>
          <p:cNvSpPr/>
          <p:nvPr/>
        </p:nvSpPr>
        <p:spPr>
          <a:xfrm>
            <a:off x="9893856" y="4086582"/>
            <a:ext cx="3717488" cy="100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providing flexible, document-based data storage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906" y="5638205"/>
            <a:ext cx="4217670" cy="1634490"/>
          </a:xfrm>
          <a:prstGeom prst="roundRect">
            <a:avLst>
              <a:gd name="adj" fmla="val 2016"/>
            </a:avLst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0" name="Text 18"/>
          <p:cNvSpPr/>
          <p:nvPr/>
        </p:nvSpPr>
        <p:spPr>
          <a:xfrm>
            <a:off x="988576" y="5857875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88576" y="6350079"/>
            <a:ext cx="3778329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JWT-based secure login system with token refresh mechanisms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206246" y="5638205"/>
            <a:ext cx="4217789" cy="1634490"/>
          </a:xfrm>
          <a:prstGeom prst="roundRect">
            <a:avLst>
              <a:gd name="adj" fmla="val 2016"/>
            </a:avLst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5425916" y="5857875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425916" y="6350079"/>
            <a:ext cx="3778448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APIs (Sheets &amp; Forms) for seamless data synchronization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643705" y="5638205"/>
            <a:ext cx="4217789" cy="1634490"/>
          </a:xfrm>
          <a:prstGeom prst="roundRect">
            <a:avLst>
              <a:gd name="adj" fmla="val 2016"/>
            </a:avLst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6" name="Text 24"/>
          <p:cNvSpPr/>
          <p:nvPr/>
        </p:nvSpPr>
        <p:spPr>
          <a:xfrm>
            <a:off x="9863376" y="5857875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Version Control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863376" y="6350079"/>
            <a:ext cx="3778448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for collaborative development and code management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910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744"/>
            <a:ext cx="6627138" cy="73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Architecture</a:t>
            </a:r>
            <a:endParaRPr lang="en-US" sz="4600" b="1" dirty="0"/>
          </a:p>
        </p:txBody>
      </p:sp>
      <p:sp>
        <p:nvSpPr>
          <p:cNvPr id="3" name="Text 1"/>
          <p:cNvSpPr/>
          <p:nvPr/>
        </p:nvSpPr>
        <p:spPr>
          <a:xfrm>
            <a:off x="784383" y="1626574"/>
            <a:ext cx="13061633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sophisticated hybrid cloud infrastructure designed for reliability, performance, and seamless scalability across global user bases.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84" y="2769275"/>
            <a:ext cx="4353878" cy="8964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8459" y="3889772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Frontend Layer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1008459" y="4391858"/>
            <a:ext cx="3905726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Deployed on </a:t>
            </a:r>
            <a:r>
              <a:rPr lang="en-US" sz="2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Vercel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global CDN distribution and automated build pipelines for instant updates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261" y="2769275"/>
            <a:ext cx="4353878" cy="8964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2337" y="3889772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Layer</a:t>
            </a:r>
            <a:endParaRPr lang="en-US" sz="2400" b="1" dirty="0"/>
          </a:p>
        </p:txBody>
      </p:sp>
      <p:sp>
        <p:nvSpPr>
          <p:cNvPr id="9" name="Text 5"/>
          <p:cNvSpPr/>
          <p:nvPr/>
        </p:nvSpPr>
        <p:spPr>
          <a:xfrm>
            <a:off x="5362337" y="4391858"/>
            <a:ext cx="3905726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Hosted on </a:t>
            </a:r>
            <a:r>
              <a:rPr lang="en-US" sz="20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EC2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Dockerized FastAPI server and Nginx reverse proxy configuration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139" y="2769275"/>
            <a:ext cx="4353878" cy="8964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6214" y="3889772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&amp; Scale</a:t>
            </a:r>
            <a:endParaRPr lang="en-US" sz="2400" b="1" dirty="0"/>
          </a:p>
        </p:txBody>
      </p:sp>
      <p:sp>
        <p:nvSpPr>
          <p:cNvPr id="12" name="Text 7"/>
          <p:cNvSpPr/>
          <p:nvPr/>
        </p:nvSpPr>
        <p:spPr>
          <a:xfrm>
            <a:off x="9716214" y="4391858"/>
            <a:ext cx="3905726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 via AWS Certificate Manager with Elastic Load Balancer and Auto-Scaling Groups for dynamic capacity management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784384" y="6301978"/>
            <a:ext cx="13061633" cy="1433989"/>
          </a:xfrm>
          <a:prstGeom prst="roundRect">
            <a:avLst>
              <a:gd name="adj" fmla="val 256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59" y="6637377"/>
            <a:ext cx="280154" cy="2240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12689" y="6582013"/>
            <a:ext cx="12109252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Production-Ready Infrastructure:</a:t>
            </a:r>
            <a:r>
              <a:rPr lang="en-US" sz="2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deployment architecture ensures 99.9% uptime, automatic failover capabilities, and horizontal scaling to handle peak placement season traffic.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768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67B42B-BB33-3460-E4F1-C2E836F28804}"/>
              </a:ext>
            </a:extLst>
          </p:cNvPr>
          <p:cNvSpPr/>
          <p:nvPr/>
        </p:nvSpPr>
        <p:spPr>
          <a:xfrm>
            <a:off x="818398" y="47462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                                   Core Admin Modules</a:t>
            </a:r>
            <a:endParaRPr lang="en-US" sz="465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8F9CBE-9869-69B3-4D27-782C3877EAE1}"/>
              </a:ext>
            </a:extLst>
          </p:cNvPr>
          <p:cNvSpPr/>
          <p:nvPr/>
        </p:nvSpPr>
        <p:spPr>
          <a:xfrm>
            <a:off x="793670" y="139303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Administrator Module is built on three foundational pillars that work together to create a seamless placement management experience.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F58577-18DB-2944-2564-46C5B010DB42}"/>
              </a:ext>
            </a:extLst>
          </p:cNvPr>
          <p:cNvSpPr/>
          <p:nvPr/>
        </p:nvSpPr>
        <p:spPr>
          <a:xfrm>
            <a:off x="659574" y="3539311"/>
            <a:ext cx="4196358" cy="3602269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  <a:effectLst>
            <a:innerShdw blurRad="342900" dist="50800" dir="81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5C6E45-2F89-25D1-5082-78657A2F90BD}"/>
              </a:ext>
            </a:extLst>
          </p:cNvPr>
          <p:cNvSpPr/>
          <p:nvPr/>
        </p:nvSpPr>
        <p:spPr>
          <a:xfrm>
            <a:off x="2048720" y="3679984"/>
            <a:ext cx="1041722" cy="680442"/>
          </a:xfrm>
          <a:prstGeom prst="roundRect">
            <a:avLst>
              <a:gd name="adj" fmla="val 13436980"/>
            </a:avLst>
          </a:prstGeom>
          <a:solidFill>
            <a:srgbClr val="92D050"/>
          </a:solidFill>
          <a:ln/>
        </p:spPr>
        <p:txBody>
          <a:bodyPr/>
          <a:lstStyle/>
          <a:p>
            <a:r>
              <a:rPr lang="en-IN" sz="2800" dirty="0"/>
              <a:t>   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D122FE-A9AA-0BF8-55D3-6A526C49FBBA}"/>
              </a:ext>
            </a:extLst>
          </p:cNvPr>
          <p:cNvSpPr/>
          <p:nvPr/>
        </p:nvSpPr>
        <p:spPr>
          <a:xfrm>
            <a:off x="996078" y="4543881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Management Module</a:t>
            </a:r>
            <a:endParaRPr lang="en-US" sz="23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5A3A32-36F6-8949-B10C-28E0995BF3FC}"/>
              </a:ext>
            </a:extLst>
          </p:cNvPr>
          <p:cNvSpPr/>
          <p:nvPr/>
        </p:nvSpPr>
        <p:spPr>
          <a:xfrm>
            <a:off x="1020604" y="555361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control over student profiles, credentials, and data integrity</a:t>
            </a:r>
            <a:endParaRPr lang="en-US" sz="1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FB7B24-DF9F-3627-1EDA-557F2AE56056}"/>
              </a:ext>
            </a:extLst>
          </p:cNvPr>
          <p:cNvSpPr/>
          <p:nvPr/>
        </p:nvSpPr>
        <p:spPr>
          <a:xfrm>
            <a:off x="5216962" y="3539311"/>
            <a:ext cx="4196358" cy="3602269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  <a:effectLst>
            <a:innerShdw blurRad="317500" dist="50800" dir="162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78AF04-EC27-B7C3-EF78-8DEF7AF6EAB4}"/>
              </a:ext>
            </a:extLst>
          </p:cNvPr>
          <p:cNvSpPr/>
          <p:nvPr/>
        </p:nvSpPr>
        <p:spPr>
          <a:xfrm>
            <a:off x="6772595" y="3679984"/>
            <a:ext cx="1086615" cy="680442"/>
          </a:xfrm>
          <a:prstGeom prst="roundRect">
            <a:avLst>
              <a:gd name="adj" fmla="val 13436980"/>
            </a:avLst>
          </a:prstGeom>
          <a:solidFill>
            <a:srgbClr val="92D050"/>
          </a:solidFill>
          <a:ln/>
        </p:spPr>
        <p:txBody>
          <a:bodyPr/>
          <a:lstStyle/>
          <a:p>
            <a:r>
              <a:rPr lang="en-IN" sz="3200" dirty="0"/>
              <a:t>   2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9CF439-3D20-7A1E-36FA-E01F0B231A07}"/>
              </a:ext>
            </a:extLst>
          </p:cNvPr>
          <p:cNvSpPr/>
          <p:nvPr/>
        </p:nvSpPr>
        <p:spPr>
          <a:xfrm>
            <a:off x="5443776" y="4673381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Posting &amp; Google Form Automation</a:t>
            </a:r>
            <a:endParaRPr lang="en-US" sz="23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7879F8A-1624-3D16-3711-2388361D67F9}"/>
              </a:ext>
            </a:extLst>
          </p:cNvPr>
          <p:cNvSpPr/>
          <p:nvPr/>
        </p:nvSpPr>
        <p:spPr>
          <a:xfrm>
            <a:off x="5443776" y="55536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job distribution with intelligent eligibility filtering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91AC99C-7E39-5C49-26D4-1E09707A8237}"/>
              </a:ext>
            </a:extLst>
          </p:cNvPr>
          <p:cNvSpPr/>
          <p:nvPr/>
        </p:nvSpPr>
        <p:spPr>
          <a:xfrm>
            <a:off x="9640133" y="3539311"/>
            <a:ext cx="4196358" cy="3602269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  <a:effectLst>
            <a:innerShdw blurRad="431800" dist="50800" dir="162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86FA798-D2B0-6149-87BF-4C4CB25444B0}"/>
              </a:ext>
            </a:extLst>
          </p:cNvPr>
          <p:cNvSpPr/>
          <p:nvPr/>
        </p:nvSpPr>
        <p:spPr>
          <a:xfrm>
            <a:off x="11272421" y="3679984"/>
            <a:ext cx="996744" cy="680442"/>
          </a:xfrm>
          <a:prstGeom prst="roundRect">
            <a:avLst>
              <a:gd name="adj" fmla="val 13436980"/>
            </a:avLst>
          </a:prstGeom>
          <a:solidFill>
            <a:srgbClr val="92D050"/>
          </a:solidFill>
          <a:ln/>
        </p:spPr>
        <p:txBody>
          <a:bodyPr/>
          <a:lstStyle/>
          <a:p>
            <a:r>
              <a:rPr lang="en-IN" sz="2800" dirty="0"/>
              <a:t>   3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BB4916F-549A-2CB6-F8C6-DE676B9EFD1C}"/>
              </a:ext>
            </a:extLst>
          </p:cNvPr>
          <p:cNvSpPr/>
          <p:nvPr/>
        </p:nvSpPr>
        <p:spPr>
          <a:xfrm>
            <a:off x="9866948" y="4673381"/>
            <a:ext cx="349138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Data Sheet Module</a:t>
            </a:r>
            <a:endParaRPr lang="en-US" sz="23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1FD1B5-C62C-2E1D-6850-4BAA7ADFEC9C}"/>
              </a:ext>
            </a:extLst>
          </p:cNvPr>
          <p:cNvSpPr/>
          <p:nvPr/>
        </p:nvSpPr>
        <p:spPr>
          <a:xfrm>
            <a:off x="9866948" y="518154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application tracking via automated Google Sheets integration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6275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97E88C-B08D-798F-BFB2-840773239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56" b="-13656"/>
          <a:stretch>
            <a:fillRect/>
          </a:stretch>
        </p:blipFill>
        <p:spPr>
          <a:xfrm>
            <a:off x="1134319" y="1617266"/>
            <a:ext cx="11204294" cy="5929132"/>
          </a:xfrm>
          <a:prstGeom prst="rect">
            <a:avLst/>
          </a:prstGeom>
          <a:solidFill>
            <a:schemeClr val="bg1"/>
          </a:solidFill>
          <a:ln w="73025">
            <a:solidFill>
              <a:schemeClr val="accent1">
                <a:alpha val="1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DE8A5-3C67-035F-407A-CF74BA8428B4}"/>
              </a:ext>
            </a:extLst>
          </p:cNvPr>
          <p:cNvSpPr txBox="1"/>
          <p:nvPr/>
        </p:nvSpPr>
        <p:spPr>
          <a:xfrm>
            <a:off x="3345084" y="312516"/>
            <a:ext cx="7048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Admin 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120599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E3C813-608B-E260-7A84-07A2A52D9635}"/>
              </a:ext>
            </a:extLst>
          </p:cNvPr>
          <p:cNvSpPr/>
          <p:nvPr/>
        </p:nvSpPr>
        <p:spPr>
          <a:xfrm>
            <a:off x="7428548" y="5543248"/>
            <a:ext cx="6799536" cy="23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762000" sx="97000" sy="97000" kx="1200000" algn="br" rotWithShape="0">
              <a:prstClr val="black">
                <a:alpha val="14000"/>
              </a:prstClr>
            </a:outerShdw>
            <a:reflection stA="50000" endA="300" endPos="55500" dist="508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99C0FA-C00E-F0C0-D994-30948647BBC9}"/>
              </a:ext>
            </a:extLst>
          </p:cNvPr>
          <p:cNvSpPr/>
          <p:nvPr/>
        </p:nvSpPr>
        <p:spPr>
          <a:xfrm>
            <a:off x="467485" y="5543248"/>
            <a:ext cx="6536340" cy="23669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762000" sx="97000" sy="97000" kx="1200000" algn="br" rotWithShape="0">
              <a:prstClr val="black">
                <a:alpha val="14000"/>
              </a:prstClr>
            </a:outerShdw>
            <a:reflection stA="50000" endA="300" endPos="55500" dist="508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DF5D92-4E74-0605-2400-762B52F4A21F}"/>
              </a:ext>
            </a:extLst>
          </p:cNvPr>
          <p:cNvSpPr/>
          <p:nvPr/>
        </p:nvSpPr>
        <p:spPr>
          <a:xfrm>
            <a:off x="7433745" y="2841480"/>
            <a:ext cx="6794339" cy="23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762000" sx="97000" sy="97000" kx="12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84218E-9887-415F-7483-5150A50F6589}"/>
              </a:ext>
            </a:extLst>
          </p:cNvPr>
          <p:cNvSpPr/>
          <p:nvPr/>
        </p:nvSpPr>
        <p:spPr>
          <a:xfrm>
            <a:off x="402316" y="2827545"/>
            <a:ext cx="6482359" cy="234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762000" sx="97000" sy="97000" kx="1200000" algn="br" rotWithShape="0">
              <a:prstClr val="black">
                <a:alpha val="14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IN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3FAE55D7-4859-9C49-FC33-02D576550706}"/>
              </a:ext>
            </a:extLst>
          </p:cNvPr>
          <p:cNvSpPr/>
          <p:nvPr/>
        </p:nvSpPr>
        <p:spPr>
          <a:xfrm>
            <a:off x="793790" y="319384"/>
            <a:ext cx="849927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1: Student Management</a:t>
            </a:r>
            <a:endParaRPr lang="en-US" sz="4650" b="1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2DAE60AC-DF7D-B5C7-0108-AE9AE62767ED}"/>
              </a:ext>
            </a:extLst>
          </p:cNvPr>
          <p:cNvSpPr/>
          <p:nvPr/>
        </p:nvSpPr>
        <p:spPr>
          <a:xfrm>
            <a:off x="680323" y="1258132"/>
            <a:ext cx="13042821" cy="757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module provides comprehensive administrative control over student data throughout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entire placement lifecycle.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89322028-7413-8259-9295-10BF4FD7AB3F}"/>
              </a:ext>
            </a:extLst>
          </p:cNvPr>
          <p:cNvSpPr/>
          <p:nvPr/>
        </p:nvSpPr>
        <p:spPr>
          <a:xfrm>
            <a:off x="793790" y="28795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102EF344-357A-D1CA-3612-1A40D9FBEC10}"/>
              </a:ext>
            </a:extLst>
          </p:cNvPr>
          <p:cNvSpPr/>
          <p:nvPr/>
        </p:nvSpPr>
        <p:spPr>
          <a:xfrm flipV="1">
            <a:off x="793790" y="3567593"/>
            <a:ext cx="6012124" cy="4977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D8F2795F-1C5C-3B3A-07CD-767849437A1A}"/>
              </a:ext>
            </a:extLst>
          </p:cNvPr>
          <p:cNvSpPr/>
          <p:nvPr/>
        </p:nvSpPr>
        <p:spPr>
          <a:xfrm>
            <a:off x="793790" y="3100129"/>
            <a:ext cx="30870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Initial Database Import</a:t>
            </a:r>
            <a:endParaRPr lang="en-US" sz="2400" b="1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F6DBCECC-83CD-8DC7-E6B7-3C62498F8D95}"/>
              </a:ext>
            </a:extLst>
          </p:cNvPr>
          <p:cNvSpPr/>
          <p:nvPr/>
        </p:nvSpPr>
        <p:spPr>
          <a:xfrm>
            <a:off x="793790" y="391709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Bulk-create student accounts efficiently via CSV upload. Import hundreds of student records in seconds.</a:t>
            </a:r>
            <a:endParaRPr lang="en-US" sz="2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1A66B86-63BC-46F1-81B2-F89E92B387D5}"/>
              </a:ext>
            </a:extLst>
          </p:cNvPr>
          <p:cNvSpPr/>
          <p:nvPr/>
        </p:nvSpPr>
        <p:spPr>
          <a:xfrm>
            <a:off x="7428548" y="28795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F9251B35-0AF5-E8E2-4074-1EC00F1CB49C}"/>
              </a:ext>
            </a:extLst>
          </p:cNvPr>
          <p:cNvSpPr/>
          <p:nvPr/>
        </p:nvSpPr>
        <p:spPr>
          <a:xfrm>
            <a:off x="7655362" y="35992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F99CB7F-DAF3-EA39-E301-F460977E20B0}"/>
              </a:ext>
            </a:extLst>
          </p:cNvPr>
          <p:cNvSpPr/>
          <p:nvPr/>
        </p:nvSpPr>
        <p:spPr>
          <a:xfrm>
            <a:off x="7694592" y="31417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Account Initialization</a:t>
            </a:r>
            <a:endParaRPr lang="en-US" sz="2400" b="1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77BCDA1-B2DA-C0AB-38DB-28A64F44759C}"/>
              </a:ext>
            </a:extLst>
          </p:cNvPr>
          <p:cNvSpPr/>
          <p:nvPr/>
        </p:nvSpPr>
        <p:spPr>
          <a:xfrm>
            <a:off x="7655361" y="3887837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automatically generates secure credentials and sends personalized welcome emails to each student.</a:t>
            </a:r>
            <a:endParaRPr lang="en-US" sz="20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ACB83BC-5E26-E0D5-FD0A-951DF4DBF715}"/>
              </a:ext>
            </a:extLst>
          </p:cNvPr>
          <p:cNvSpPr/>
          <p:nvPr/>
        </p:nvSpPr>
        <p:spPr>
          <a:xfrm>
            <a:off x="793790" y="5039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520005B8-9515-2269-2AF0-507D104E752B}"/>
              </a:ext>
            </a:extLst>
          </p:cNvPr>
          <p:cNvSpPr/>
          <p:nvPr/>
        </p:nvSpPr>
        <p:spPr>
          <a:xfrm>
            <a:off x="793790" y="6173679"/>
            <a:ext cx="6210034" cy="49229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344BBA5-CF41-2992-7F45-966D9460A4DD}"/>
              </a:ext>
            </a:extLst>
          </p:cNvPr>
          <p:cNvSpPr/>
          <p:nvPr/>
        </p:nvSpPr>
        <p:spPr>
          <a:xfrm>
            <a:off x="793790" y="57551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Profile Data Control</a:t>
            </a:r>
            <a:endParaRPr lang="en-US" sz="2400" b="1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837CC52-930C-816C-94A8-9D27077B2A42}"/>
              </a:ext>
            </a:extLst>
          </p:cNvPr>
          <p:cNvSpPr/>
          <p:nvPr/>
        </p:nvSpPr>
        <p:spPr>
          <a:xfrm>
            <a:off x="793790" y="6386145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can edit their profile once to ensure accuracy. After initial setup, all changes require admin approval to maintain data integrity.</a:t>
            </a:r>
            <a:endParaRPr lang="en-US" sz="20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CAFB7E6-38F6-1E97-7138-3D76829639E6}"/>
              </a:ext>
            </a:extLst>
          </p:cNvPr>
          <p:cNvSpPr/>
          <p:nvPr/>
        </p:nvSpPr>
        <p:spPr>
          <a:xfrm>
            <a:off x="7428548" y="5039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0AC1E5B1-D4BC-4864-8967-5D16B3FF3B3E}"/>
              </a:ext>
            </a:extLst>
          </p:cNvPr>
          <p:cNvSpPr/>
          <p:nvPr/>
        </p:nvSpPr>
        <p:spPr>
          <a:xfrm flipV="1">
            <a:off x="7651934" y="6206901"/>
            <a:ext cx="6071329" cy="45719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B99C5B40-4F27-A397-943C-4A3AE8B06965}"/>
              </a:ext>
            </a:extLst>
          </p:cNvPr>
          <p:cNvSpPr/>
          <p:nvPr/>
        </p:nvSpPr>
        <p:spPr>
          <a:xfrm>
            <a:off x="7694592" y="5755123"/>
            <a:ext cx="304502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Admin Override Access</a:t>
            </a:r>
            <a:endParaRPr lang="en-US" sz="2300" b="1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0686B9DC-7005-121E-4C01-81A6683DC179}"/>
              </a:ext>
            </a:extLst>
          </p:cNvPr>
          <p:cNvSpPr/>
          <p:nvPr/>
        </p:nvSpPr>
        <p:spPr>
          <a:xfrm>
            <a:off x="7651934" y="6350345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Administrators maintain full access to directly modify any student profile when necessary, ensuring complete control.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961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579BDA-827E-3245-8A55-82C1D938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7" t="13956" r="884" b="-13412"/>
          <a:stretch>
            <a:fillRect/>
          </a:stretch>
        </p:blipFill>
        <p:spPr>
          <a:xfrm>
            <a:off x="821802" y="1195564"/>
            <a:ext cx="12357869" cy="664847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4B8C74-09E2-7818-B211-C734B2ED0528}"/>
              </a:ext>
            </a:extLst>
          </p:cNvPr>
          <p:cNvSpPr txBox="1"/>
          <p:nvPr/>
        </p:nvSpPr>
        <p:spPr>
          <a:xfrm>
            <a:off x="3819645" y="125933"/>
            <a:ext cx="4502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          MODULE-1</a:t>
            </a:r>
          </a:p>
          <a:p>
            <a:pPr algn="ctr"/>
            <a:r>
              <a:rPr lang="en-IN" sz="2800" b="1" dirty="0"/>
              <a:t>          Student Management</a:t>
            </a:r>
          </a:p>
        </p:txBody>
      </p:sp>
    </p:spTree>
    <p:extLst>
      <p:ext uri="{BB962C8B-B14F-4D97-AF65-F5344CB8AC3E}">
        <p14:creationId xmlns:p14="http://schemas.microsoft.com/office/powerpoint/2010/main" val="390703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7523EB-DCA6-7BE2-47E6-086B7428C11C}"/>
              </a:ext>
            </a:extLst>
          </p:cNvPr>
          <p:cNvSpPr/>
          <p:nvPr/>
        </p:nvSpPr>
        <p:spPr>
          <a:xfrm>
            <a:off x="654894" y="543985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2: Job Posting &amp; Google Form Automation</a:t>
            </a:r>
            <a:endParaRPr lang="en-US" sz="465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37BF72-FC2A-63C0-F9C1-6272177DCF03}"/>
              </a:ext>
            </a:extLst>
          </p:cNvPr>
          <p:cNvSpPr/>
          <p:nvPr/>
        </p:nvSpPr>
        <p:spPr>
          <a:xfrm>
            <a:off x="654894" y="25080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Streamlines the creation of new job opportunities while ensuring only qualified students see relevant postings.</a:t>
            </a:r>
            <a:endParaRPr lang="en-US" sz="20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EB9DBE60-5E49-DA25-D0C9-5D1B2BB7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07308"/>
            <a:ext cx="1134070" cy="168759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1874A7-9052-D1CA-61FF-462B0D643E08}"/>
              </a:ext>
            </a:extLst>
          </p:cNvPr>
          <p:cNvSpPr/>
          <p:nvPr/>
        </p:nvSpPr>
        <p:spPr>
          <a:xfrm>
            <a:off x="2154674" y="39341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Creation</a:t>
            </a:r>
            <a:endParaRPr lang="en-US" sz="230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C1F40A-CEB3-4198-3CCA-3994AB39265C}"/>
              </a:ext>
            </a:extLst>
          </p:cNvPr>
          <p:cNvSpPr/>
          <p:nvPr/>
        </p:nvSpPr>
        <p:spPr>
          <a:xfrm>
            <a:off x="2154674" y="4442281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defines job descriptions, eligibility criteria including CGPA thresholds, backlog limits, and branch requirements.</a:t>
            </a:r>
            <a:endParaRPr lang="en-US" sz="2000" dirty="0"/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DAA980B9-67AB-227C-F77C-0BB0B8758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94900"/>
            <a:ext cx="1134070" cy="1687592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A445C0B9-3D43-1642-E443-3A3949B83A91}"/>
              </a:ext>
            </a:extLst>
          </p:cNvPr>
          <p:cNvSpPr/>
          <p:nvPr/>
        </p:nvSpPr>
        <p:spPr>
          <a:xfrm>
            <a:off x="2154674" y="5621714"/>
            <a:ext cx="327529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Google Form Integration</a:t>
            </a:r>
            <a:endParaRPr lang="en-US" sz="2300" b="1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222D428-8924-DE1A-7775-ADC7897560BB}"/>
              </a:ext>
            </a:extLst>
          </p:cNvPr>
          <p:cNvSpPr/>
          <p:nvPr/>
        </p:nvSpPr>
        <p:spPr>
          <a:xfrm>
            <a:off x="2154674" y="6129873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links application forms. The system automatically displays opportunities only to eligible students based on their profiles.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926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9DF647-EC2F-8398-967D-F8F38E6FC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003" y="1851950"/>
            <a:ext cx="9582807" cy="6215605"/>
          </a:xfrm>
          <a:prstGeom prst="rect">
            <a:avLst/>
          </a:prstGeom>
          <a:ln w="4762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88304D-D5AE-0E7E-FE74-B243FE7F0C44}"/>
              </a:ext>
            </a:extLst>
          </p:cNvPr>
          <p:cNvSpPr txBox="1"/>
          <p:nvPr/>
        </p:nvSpPr>
        <p:spPr>
          <a:xfrm>
            <a:off x="4363656" y="497711"/>
            <a:ext cx="5185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Module 2</a:t>
            </a:r>
          </a:p>
          <a:p>
            <a:pPr algn="ctr"/>
            <a:r>
              <a:rPr lang="en-IN" sz="3600" b="1" dirty="0"/>
              <a:t>Sample Form Overview</a:t>
            </a:r>
          </a:p>
        </p:txBody>
      </p:sp>
    </p:spTree>
    <p:extLst>
      <p:ext uri="{BB962C8B-B14F-4D97-AF65-F5344CB8AC3E}">
        <p14:creationId xmlns:p14="http://schemas.microsoft.com/office/powerpoint/2010/main" val="395182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C37F21-B3BF-FD55-12D3-7B3C1C336ABC}"/>
              </a:ext>
            </a:extLst>
          </p:cNvPr>
          <p:cNvSpPr/>
          <p:nvPr/>
        </p:nvSpPr>
        <p:spPr>
          <a:xfrm>
            <a:off x="793790" y="880406"/>
            <a:ext cx="764202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3: Master Data Sheet</a:t>
            </a:r>
            <a:endParaRPr lang="en-US" sz="465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E6EE90-8FAD-6C74-6899-A955585F1C4E}"/>
              </a:ext>
            </a:extLst>
          </p:cNvPr>
          <p:cNvSpPr/>
          <p:nvPr/>
        </p:nvSpPr>
        <p:spPr>
          <a:xfrm>
            <a:off x="793790" y="200876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primary reporting and tracking feature, powered by the Google Sheets API, provides unprecedented visibility into the placement process.</a:t>
            </a:r>
            <a:endParaRPr lang="en-US" sz="2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F516E3A-5B1D-1BDF-273C-5883FB14A957}"/>
              </a:ext>
            </a:extLst>
          </p:cNvPr>
          <p:cNvSpPr/>
          <p:nvPr/>
        </p:nvSpPr>
        <p:spPr>
          <a:xfrm>
            <a:off x="793790" y="38989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A54568F-7DE0-2C02-1086-0C322D3B4ED2}"/>
              </a:ext>
            </a:extLst>
          </p:cNvPr>
          <p:cNvSpPr/>
          <p:nvPr/>
        </p:nvSpPr>
        <p:spPr>
          <a:xfrm>
            <a:off x="2551688" y="3589317"/>
            <a:ext cx="814664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EF3AA42-DF44-59B0-E9C5-F989D83E7D2B}"/>
              </a:ext>
            </a:extLst>
          </p:cNvPr>
          <p:cNvSpPr/>
          <p:nvPr/>
        </p:nvSpPr>
        <p:spPr>
          <a:xfrm>
            <a:off x="2755761" y="3759456"/>
            <a:ext cx="272177" cy="355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1</a:t>
            </a:r>
            <a:endParaRPr lang="en-US" sz="21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68EA3B1-0A5F-8C90-CA90-B2281FDEC463}"/>
              </a:ext>
            </a:extLst>
          </p:cNvPr>
          <p:cNvSpPr/>
          <p:nvPr/>
        </p:nvSpPr>
        <p:spPr>
          <a:xfrm>
            <a:off x="1051084" y="4496454"/>
            <a:ext cx="32863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Sheet Generation</a:t>
            </a:r>
            <a:endParaRPr lang="en-US" sz="2300" b="1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202A0F9-7C6F-1A72-BFCF-E57E19B39038}"/>
              </a:ext>
            </a:extLst>
          </p:cNvPr>
          <p:cNvSpPr/>
          <p:nvPr/>
        </p:nvSpPr>
        <p:spPr>
          <a:xfrm>
            <a:off x="1051084" y="500461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automatically generates a comprehensive "Master Placement Data Sheet" that serves as the single source of truth.</a:t>
            </a:r>
            <a:endParaRPr lang="en-US" sz="20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50E944A-4A7C-22E8-EC8F-E0C9CC2E9BAD}"/>
              </a:ext>
            </a:extLst>
          </p:cNvPr>
          <p:cNvSpPr/>
          <p:nvPr/>
        </p:nvSpPr>
        <p:spPr>
          <a:xfrm>
            <a:off x="5216962" y="38989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9A38CF5-5841-421F-1D56-3192913A3207}"/>
              </a:ext>
            </a:extLst>
          </p:cNvPr>
          <p:cNvSpPr/>
          <p:nvPr/>
        </p:nvSpPr>
        <p:spPr>
          <a:xfrm>
            <a:off x="6840638" y="3589317"/>
            <a:ext cx="814664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90E41DD-1953-DF8C-E425-C0641269B624}"/>
              </a:ext>
            </a:extLst>
          </p:cNvPr>
          <p:cNvSpPr/>
          <p:nvPr/>
        </p:nvSpPr>
        <p:spPr>
          <a:xfrm>
            <a:off x="7178933" y="37594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7C3B90E-15C8-EA97-D35F-662B46D61E9A}"/>
              </a:ext>
            </a:extLst>
          </p:cNvPr>
          <p:cNvSpPr/>
          <p:nvPr/>
        </p:nvSpPr>
        <p:spPr>
          <a:xfrm>
            <a:off x="5474256" y="44964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2D Matrix Structure</a:t>
            </a:r>
            <a:endParaRPr lang="en-US" sz="2300" b="1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358BA1C-242A-F6C4-84D3-7BBFCF47DDEA}"/>
              </a:ext>
            </a:extLst>
          </p:cNvPr>
          <p:cNvSpPr/>
          <p:nvPr/>
        </p:nvSpPr>
        <p:spPr>
          <a:xfrm>
            <a:off x="5474256" y="500461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represent students (Roll Number/Name), columns represent companies/jobs, and cells auto-update with "Applied" status.</a:t>
            </a:r>
            <a:endParaRPr lang="en-US" sz="200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71E44EC7-78BA-6034-C6EF-29E2F0618FDC}"/>
              </a:ext>
            </a:extLst>
          </p:cNvPr>
          <p:cNvSpPr/>
          <p:nvPr/>
        </p:nvSpPr>
        <p:spPr>
          <a:xfrm>
            <a:off x="9640133" y="38989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5812C3B-53BF-8332-AC29-94E332D3795B}"/>
              </a:ext>
            </a:extLst>
          </p:cNvPr>
          <p:cNvSpPr/>
          <p:nvPr/>
        </p:nvSpPr>
        <p:spPr>
          <a:xfrm>
            <a:off x="11263810" y="3589317"/>
            <a:ext cx="814664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A69DC141-57A4-F7A9-528A-7A7B1B1AB4CE}"/>
              </a:ext>
            </a:extLst>
          </p:cNvPr>
          <p:cNvSpPr/>
          <p:nvPr/>
        </p:nvSpPr>
        <p:spPr>
          <a:xfrm>
            <a:off x="11602105" y="37594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A0A6FDC8-23D9-A14B-224F-C72FF8D000F4}"/>
              </a:ext>
            </a:extLst>
          </p:cNvPr>
          <p:cNvSpPr/>
          <p:nvPr/>
        </p:nvSpPr>
        <p:spPr>
          <a:xfrm>
            <a:off x="9897427" y="4496454"/>
            <a:ext cx="33110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Data Logging</a:t>
            </a:r>
            <a:endParaRPr lang="en-US" sz="2300" b="1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B5F07654-671D-5356-7EB1-A6C9E6D9F59C}"/>
              </a:ext>
            </a:extLst>
          </p:cNvPr>
          <p:cNvSpPr/>
          <p:nvPr/>
        </p:nvSpPr>
        <p:spPr>
          <a:xfrm>
            <a:off x="9897427" y="5004613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a complete, at-a-glance view of all applications for the entire batch with zero manual data entry.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81894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7E7E83-F9A3-A175-A1B7-989C60C78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67" y="1720572"/>
            <a:ext cx="9051402" cy="6509028"/>
          </a:xfrm>
          <a:prstGeom prst="rect">
            <a:avLst/>
          </a:prstGeom>
          <a:ln w="47625">
            <a:solidFill>
              <a:schemeClr val="accent1"/>
            </a:solidFill>
          </a:ln>
          <a:effectLst>
            <a:reflection stA="0" endPos="65000" dist="508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6D5A7C-7DF5-38BE-AF12-128E65377887}"/>
              </a:ext>
            </a:extLst>
          </p:cNvPr>
          <p:cNvSpPr txBox="1"/>
          <p:nvPr/>
        </p:nvSpPr>
        <p:spPr>
          <a:xfrm>
            <a:off x="3854370" y="158171"/>
            <a:ext cx="47902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b="1" dirty="0"/>
              <a:t>Module 3 Overview</a:t>
            </a:r>
          </a:p>
          <a:p>
            <a:pPr algn="ctr"/>
            <a:endParaRPr lang="en-IN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EE73B-EA61-FB8C-EB07-12C18658B91C}"/>
              </a:ext>
            </a:extLst>
          </p:cNvPr>
          <p:cNvSpPr txBox="1"/>
          <p:nvPr/>
        </p:nvSpPr>
        <p:spPr>
          <a:xfrm>
            <a:off x="3865945" y="934264"/>
            <a:ext cx="4790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 collective data view to master data sheet </a:t>
            </a:r>
          </a:p>
        </p:txBody>
      </p:sp>
    </p:spTree>
    <p:extLst>
      <p:ext uri="{BB962C8B-B14F-4D97-AF65-F5344CB8AC3E}">
        <p14:creationId xmlns:p14="http://schemas.microsoft.com/office/powerpoint/2010/main" val="199067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8003E8-7E02-5C62-740C-9BCA5C8D83BF}"/>
              </a:ext>
            </a:extLst>
          </p:cNvPr>
          <p:cNvSpPr/>
          <p:nvPr/>
        </p:nvSpPr>
        <p:spPr>
          <a:xfrm>
            <a:off x="688895" y="805875"/>
            <a:ext cx="6070719" cy="649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Inputs &amp; Queries</a:t>
            </a:r>
            <a:endParaRPr lang="en-US" sz="4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3BDA3E-749A-4B4C-30E6-1E07F1A0C8EF}"/>
              </a:ext>
            </a:extLst>
          </p:cNvPr>
          <p:cNvSpPr/>
          <p:nvPr/>
        </p:nvSpPr>
        <p:spPr>
          <a:xfrm>
            <a:off x="761881" y="1801058"/>
            <a:ext cx="311753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Inputs</a:t>
            </a:r>
            <a:endParaRPr lang="en-US" sz="2800" b="1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6C9DD6-6BC6-9E98-7B24-A614CBBA48EE}"/>
              </a:ext>
            </a:extLst>
          </p:cNvPr>
          <p:cNvSpPr/>
          <p:nvPr/>
        </p:nvSpPr>
        <p:spPr>
          <a:xfrm>
            <a:off x="688896" y="2562285"/>
            <a:ext cx="6381036" cy="1280755"/>
          </a:xfrm>
          <a:prstGeom prst="roundRect">
            <a:avLst>
              <a:gd name="adj" fmla="val 2318"/>
            </a:avLst>
          </a:prstGeom>
          <a:solidFill>
            <a:schemeClr val="bg1"/>
          </a:solidFill>
          <a:ln w="22860">
            <a:solidFill>
              <a:srgbClr val="D8D4D4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4123FC-F70E-EB3F-B78A-52BEB802953B}"/>
              </a:ext>
            </a:extLst>
          </p:cNvPr>
          <p:cNvSpPr/>
          <p:nvPr/>
        </p:nvSpPr>
        <p:spPr>
          <a:xfrm>
            <a:off x="909638" y="2783026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Data (CSV)</a:t>
            </a:r>
            <a:endParaRPr lang="en-US" sz="20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A52C6A-4577-CB9F-307A-32FE11B96D07}"/>
              </a:ext>
            </a:extLst>
          </p:cNvPr>
          <p:cNvSpPr/>
          <p:nvPr/>
        </p:nvSpPr>
        <p:spPr>
          <a:xfrm>
            <a:off x="909638" y="3305592"/>
            <a:ext cx="5939552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Bulk upload of student records with profile information</a:t>
            </a:r>
            <a:endParaRPr lang="en-US" sz="15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FBF34E-2E20-CAB6-515C-67BEEBC96781}"/>
              </a:ext>
            </a:extLst>
          </p:cNvPr>
          <p:cNvSpPr/>
          <p:nvPr/>
        </p:nvSpPr>
        <p:spPr>
          <a:xfrm>
            <a:off x="688896" y="4040922"/>
            <a:ext cx="6381036" cy="128075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92EED5-D1D7-7C48-A0A9-8BC31EAFB819}"/>
              </a:ext>
            </a:extLst>
          </p:cNvPr>
          <p:cNvSpPr/>
          <p:nvPr/>
        </p:nvSpPr>
        <p:spPr>
          <a:xfrm>
            <a:off x="909638" y="4261664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 Data Edits</a:t>
            </a:r>
            <a:endParaRPr lang="en-US" sz="20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778FEA-E82A-68C0-ED27-7EF9BC7D0FB1}"/>
              </a:ext>
            </a:extLst>
          </p:cNvPr>
          <p:cNvSpPr/>
          <p:nvPr/>
        </p:nvSpPr>
        <p:spPr>
          <a:xfrm>
            <a:off x="909638" y="4784229"/>
            <a:ext cx="5939552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Admin-initiated profile updates and corrections</a:t>
            </a:r>
            <a:endParaRPr lang="en-US" sz="15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3DFDF3-3BBC-58AA-ECE4-03F61F28F158}"/>
              </a:ext>
            </a:extLst>
          </p:cNvPr>
          <p:cNvSpPr/>
          <p:nvPr/>
        </p:nvSpPr>
        <p:spPr>
          <a:xfrm>
            <a:off x="688896" y="5519559"/>
            <a:ext cx="6381036" cy="128075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6280E8-9FC0-852D-7B88-7D5C00451873}"/>
              </a:ext>
            </a:extLst>
          </p:cNvPr>
          <p:cNvSpPr/>
          <p:nvPr/>
        </p:nvSpPr>
        <p:spPr>
          <a:xfrm>
            <a:off x="909638" y="5740301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Posting Details</a:t>
            </a:r>
            <a:endParaRPr lang="en-US" sz="20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02CEFC-57A2-9AA1-3AEF-28170A020E4E}"/>
              </a:ext>
            </a:extLst>
          </p:cNvPr>
          <p:cNvSpPr/>
          <p:nvPr/>
        </p:nvSpPr>
        <p:spPr>
          <a:xfrm>
            <a:off x="909638" y="6262866"/>
            <a:ext cx="5939552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information, requirements, and application forms</a:t>
            </a:r>
            <a:endParaRPr lang="en-US" sz="1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FA2EE3-F41C-9558-0EFF-581408217F38}"/>
              </a:ext>
            </a:extLst>
          </p:cNvPr>
          <p:cNvSpPr/>
          <p:nvPr/>
        </p:nvSpPr>
        <p:spPr>
          <a:xfrm>
            <a:off x="7560469" y="1818560"/>
            <a:ext cx="311753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Queries Handled</a:t>
            </a:r>
            <a:endParaRPr lang="en-US" sz="2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C74BCE-E395-77FC-02E9-B63A02E0CC16}"/>
              </a:ext>
            </a:extLst>
          </p:cNvPr>
          <p:cNvSpPr/>
          <p:nvPr/>
        </p:nvSpPr>
        <p:spPr>
          <a:xfrm>
            <a:off x="7560469" y="2667357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2FD60E-397C-BA6A-72CA-3583191185E2}"/>
              </a:ext>
            </a:extLst>
          </p:cNvPr>
          <p:cNvSpPr/>
          <p:nvPr/>
        </p:nvSpPr>
        <p:spPr>
          <a:xfrm>
            <a:off x="7857292" y="2562285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Filtering</a:t>
            </a:r>
            <a:endParaRPr lang="en-US" sz="2000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F25C0D-B23A-86C7-9AD1-DB8BBB902C8A}"/>
              </a:ext>
            </a:extLst>
          </p:cNvPr>
          <p:cNvSpPr/>
          <p:nvPr/>
        </p:nvSpPr>
        <p:spPr>
          <a:xfrm>
            <a:off x="7857292" y="2902953"/>
            <a:ext cx="6084213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students by branch, CGPA threshold, or backlog status for targeted job matching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6B7A160-10DC-B9A9-FC7D-2DE97CF7E9BD}"/>
              </a:ext>
            </a:extLst>
          </p:cNvPr>
          <p:cNvSpPr/>
          <p:nvPr/>
        </p:nvSpPr>
        <p:spPr>
          <a:xfrm>
            <a:off x="7560469" y="4219218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7A6FE5-B5CE-934A-996B-FA0E1317841B}"/>
              </a:ext>
            </a:extLst>
          </p:cNvPr>
          <p:cNvSpPr/>
          <p:nvPr/>
        </p:nvSpPr>
        <p:spPr>
          <a:xfrm>
            <a:off x="7857292" y="4114145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Lookup</a:t>
            </a:r>
            <a:endParaRPr lang="en-US" sz="2000" b="1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924F76F-E99B-C2BF-5E65-719B7664C585}"/>
              </a:ext>
            </a:extLst>
          </p:cNvPr>
          <p:cNvSpPr/>
          <p:nvPr/>
        </p:nvSpPr>
        <p:spPr>
          <a:xfrm>
            <a:off x="7857291" y="4438828"/>
            <a:ext cx="60842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Quickly locate specific students to perform manual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 edits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0C612CC-E25A-7380-5612-F88635EF2E28}"/>
              </a:ext>
            </a:extLst>
          </p:cNvPr>
          <p:cNvSpPr/>
          <p:nvPr/>
        </p:nvSpPr>
        <p:spPr>
          <a:xfrm>
            <a:off x="7560469" y="5454372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5317778-2378-5E3A-04A0-1EA97F3120CD}"/>
              </a:ext>
            </a:extLst>
          </p:cNvPr>
          <p:cNvSpPr/>
          <p:nvPr/>
        </p:nvSpPr>
        <p:spPr>
          <a:xfrm>
            <a:off x="7857292" y="5349300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 Reports</a:t>
            </a:r>
            <a:endParaRPr lang="en-US" sz="2000" b="1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65EA89-C445-299C-5AD2-5B60FA66D8AA}"/>
              </a:ext>
            </a:extLst>
          </p:cNvPr>
          <p:cNvSpPr/>
          <p:nvPr/>
        </p:nvSpPr>
        <p:spPr>
          <a:xfrm>
            <a:off x="7857290" y="5720711"/>
            <a:ext cx="60842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lists of all students who applied for specific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job postings</a:t>
            </a:r>
            <a:endParaRPr lang="en-US" sz="2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4218363-39B5-1B87-08C4-8D1074C93D3F}"/>
              </a:ext>
            </a:extLst>
          </p:cNvPr>
          <p:cNvSpPr/>
          <p:nvPr/>
        </p:nvSpPr>
        <p:spPr>
          <a:xfrm>
            <a:off x="7560469" y="6689527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EB6E9B-851F-AA3A-42FC-2F65A45A67BF}"/>
              </a:ext>
            </a:extLst>
          </p:cNvPr>
          <p:cNvSpPr/>
          <p:nvPr/>
        </p:nvSpPr>
        <p:spPr>
          <a:xfrm>
            <a:off x="7857292" y="6584454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Data Retrieval</a:t>
            </a:r>
            <a:endParaRPr lang="en-US" sz="2000" b="1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90E6A23-BCC7-0951-7F41-D5ED3152A008}"/>
              </a:ext>
            </a:extLst>
          </p:cNvPr>
          <p:cNvSpPr/>
          <p:nvPr/>
        </p:nvSpPr>
        <p:spPr>
          <a:xfrm>
            <a:off x="7857292" y="7002594"/>
            <a:ext cx="60842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comprehensive data for the Master Placement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Data Sheet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516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CB9060-8953-7448-C0E0-FB3721865D8C}"/>
              </a:ext>
            </a:extLst>
          </p:cNvPr>
          <p:cNvSpPr/>
          <p:nvPr/>
        </p:nvSpPr>
        <p:spPr>
          <a:xfrm>
            <a:off x="793790" y="70982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Outputs</a:t>
            </a:r>
            <a:endParaRPr lang="en-US" sz="4650" b="1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4ACC32A2-17BB-4231-9AB3-E99CCCF2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10" y="2952564"/>
            <a:ext cx="3011701" cy="18070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BA83A42-1F5E-2C67-C031-CD8D4C58204A}"/>
              </a:ext>
            </a:extLst>
          </p:cNvPr>
          <p:cNvSpPr/>
          <p:nvPr/>
        </p:nvSpPr>
        <p:spPr>
          <a:xfrm>
            <a:off x="759010" y="3380600"/>
            <a:ext cx="30480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Profile Management Interface</a:t>
            </a:r>
            <a:endParaRPr lang="en-US" sz="2300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A61F6EC-D166-4675-BCAB-013326AEB415}"/>
              </a:ext>
            </a:extLst>
          </p:cNvPr>
          <p:cNvSpPr/>
          <p:nvPr/>
        </p:nvSpPr>
        <p:spPr>
          <a:xfrm>
            <a:off x="759010" y="4370530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 search, filter, and edit capabilities for managing student records efficiently</a:t>
            </a:r>
            <a:endParaRPr lang="en-US" sz="20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B1F46D38-C680-AA1A-F893-76A2ACE18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927308"/>
            <a:ext cx="3048119" cy="18288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1DD96921-216E-0E73-F142-18CB93791988}"/>
              </a:ext>
            </a:extLst>
          </p:cNvPr>
          <p:cNvSpPr/>
          <p:nvPr/>
        </p:nvSpPr>
        <p:spPr>
          <a:xfrm>
            <a:off x="4143427" y="34525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Card Dashboard</a:t>
            </a:r>
            <a:endParaRPr lang="en-US" sz="2300" b="1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750B516-4336-4C0A-7737-E0E27A82E806}"/>
              </a:ext>
            </a:extLst>
          </p:cNvPr>
          <p:cNvSpPr/>
          <p:nvPr/>
        </p:nvSpPr>
        <p:spPr>
          <a:xfrm>
            <a:off x="4125278" y="437053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display of active and archived job postings with quick access controls</a:t>
            </a:r>
            <a:endParaRPr lang="en-US" sz="2000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E8CC6A79-8D99-95FA-764A-165DA669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952564"/>
            <a:ext cx="3048119" cy="18288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1E4D4935-7BF5-1B6B-FDA7-1EBEB701B176}"/>
              </a:ext>
            </a:extLst>
          </p:cNvPr>
          <p:cNvSpPr/>
          <p:nvPr/>
        </p:nvSpPr>
        <p:spPr>
          <a:xfrm>
            <a:off x="7456882" y="3452522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Credential Emails</a:t>
            </a:r>
            <a:endParaRPr lang="en-US" sz="2300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8ED5133-7D1B-7D9B-1375-CD257D9274BF}"/>
              </a:ext>
            </a:extLst>
          </p:cNvPr>
          <p:cNvSpPr/>
          <p:nvPr/>
        </p:nvSpPr>
        <p:spPr>
          <a:xfrm>
            <a:off x="7456883" y="437053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System-generated welcome messages with login credentials sent to students</a:t>
            </a:r>
            <a:endParaRPr lang="en-US" sz="2000" dirty="0"/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DC33B0C4-5263-427C-D4C6-452A146A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270" y="2952564"/>
            <a:ext cx="3048119" cy="18288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3F27811-5E84-BED2-37DA-7078DEC4B7C3}"/>
              </a:ext>
            </a:extLst>
          </p:cNvPr>
          <p:cNvSpPr/>
          <p:nvPr/>
        </p:nvSpPr>
        <p:spPr>
          <a:xfrm>
            <a:off x="10841417" y="3380600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Placement Data Sheet</a:t>
            </a:r>
            <a:endParaRPr lang="en-US" sz="2000" b="1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E3E53E2-348E-F0CB-E807-EAB49EE5C615}"/>
              </a:ext>
            </a:extLst>
          </p:cNvPr>
          <p:cNvSpPr/>
          <p:nvPr/>
        </p:nvSpPr>
        <p:spPr>
          <a:xfrm>
            <a:off x="10841416" y="441985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Updating 2D matrix showing complete application tracking across all students and companies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907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D801A6B7-20B3-6007-B4CC-BD3B5B6AE214}"/>
              </a:ext>
            </a:extLst>
          </p:cNvPr>
          <p:cNvSpPr/>
          <p:nvPr/>
        </p:nvSpPr>
        <p:spPr>
          <a:xfrm>
            <a:off x="561380" y="513457"/>
            <a:ext cx="5875615" cy="51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050"/>
              </a:lnSpc>
              <a:buNone/>
            </a:pPr>
            <a:r>
              <a:rPr lang="en-US" sz="4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&amp; Performance Testing</a:t>
            </a:r>
            <a:endParaRPr lang="en-US" sz="4000" b="1" dirty="0"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ADDF3ED9-7980-05E0-9E38-6F17C0272EB7}"/>
              </a:ext>
            </a:extLst>
          </p:cNvPr>
          <p:cNvSpPr/>
          <p:nvPr/>
        </p:nvSpPr>
        <p:spPr>
          <a:xfrm>
            <a:off x="561380" y="1428215"/>
            <a:ext cx="2492335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Features</a:t>
            </a:r>
            <a:endParaRPr lang="en-US" sz="2800" b="1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55260D0F-31FD-EF11-F9A0-BD3D9086BDBB}"/>
              </a:ext>
            </a:extLst>
          </p:cNvPr>
          <p:cNvSpPr/>
          <p:nvPr/>
        </p:nvSpPr>
        <p:spPr>
          <a:xfrm>
            <a:off x="561380" y="1917681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C3381B91-7A3F-D399-4626-0D9F93A9EFD9}"/>
              </a:ext>
            </a:extLst>
          </p:cNvPr>
          <p:cNvSpPr/>
          <p:nvPr/>
        </p:nvSpPr>
        <p:spPr>
          <a:xfrm>
            <a:off x="538520" y="1917681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87CA52D1-99F8-7AA2-FC86-986C321D35C7}"/>
              </a:ext>
            </a:extLst>
          </p:cNvPr>
          <p:cNvSpPr/>
          <p:nvPr/>
        </p:nvSpPr>
        <p:spPr>
          <a:xfrm>
            <a:off x="811054" y="2098775"/>
            <a:ext cx="207692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JWT Tokens</a:t>
            </a:r>
            <a:endParaRPr lang="en-US" b="1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EA761971-8838-1012-8D3B-127E966519AC}"/>
              </a:ext>
            </a:extLst>
          </p:cNvPr>
          <p:cNvSpPr/>
          <p:nvPr/>
        </p:nvSpPr>
        <p:spPr>
          <a:xfrm>
            <a:off x="811054" y="2516565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authentication with industry-standard JSON Web Tokens</a:t>
            </a:r>
            <a:endParaRPr lang="en-US" sz="160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5ADE0202-CBAB-171B-2E36-AD3DFB142686}"/>
              </a:ext>
            </a:extLst>
          </p:cNvPr>
          <p:cNvSpPr/>
          <p:nvPr/>
        </p:nvSpPr>
        <p:spPr>
          <a:xfrm>
            <a:off x="561380" y="3109020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7DAF912B-B7A8-91FF-E85D-3521ED86D7A0}"/>
              </a:ext>
            </a:extLst>
          </p:cNvPr>
          <p:cNvSpPr/>
          <p:nvPr/>
        </p:nvSpPr>
        <p:spPr>
          <a:xfrm>
            <a:off x="538520" y="3109020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C9A2ABFC-DF98-B082-1A03-4460EAA58378}"/>
              </a:ext>
            </a:extLst>
          </p:cNvPr>
          <p:cNvSpPr/>
          <p:nvPr/>
        </p:nvSpPr>
        <p:spPr>
          <a:xfrm>
            <a:off x="811054" y="3290114"/>
            <a:ext cx="2335411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Bcrypt Password Hashing</a:t>
            </a:r>
            <a:endParaRPr lang="en-US" b="1" dirty="0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F4F8C87B-6FE9-522A-CB16-26AAA81E83B7}"/>
              </a:ext>
            </a:extLst>
          </p:cNvPr>
          <p:cNvSpPr/>
          <p:nvPr/>
        </p:nvSpPr>
        <p:spPr>
          <a:xfrm>
            <a:off x="811054" y="3707904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Military-grade encryption protects all user credentials</a:t>
            </a:r>
            <a:endParaRPr lang="en-US" sz="1600" dirty="0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4B263C22-9A99-386F-3C2F-2FE77EA94FEA}"/>
              </a:ext>
            </a:extLst>
          </p:cNvPr>
          <p:cNvSpPr/>
          <p:nvPr/>
        </p:nvSpPr>
        <p:spPr>
          <a:xfrm>
            <a:off x="561380" y="4300359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C2FAADB4-470E-C261-B2B4-E5456FB3CB33}"/>
              </a:ext>
            </a:extLst>
          </p:cNvPr>
          <p:cNvSpPr/>
          <p:nvPr/>
        </p:nvSpPr>
        <p:spPr>
          <a:xfrm>
            <a:off x="538520" y="4300359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3E277746-8634-219A-105C-AAB5A89428C3}"/>
              </a:ext>
            </a:extLst>
          </p:cNvPr>
          <p:cNvSpPr/>
          <p:nvPr/>
        </p:nvSpPr>
        <p:spPr>
          <a:xfrm>
            <a:off x="811054" y="4481453"/>
            <a:ext cx="244316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Role-Based Access Control</a:t>
            </a:r>
            <a:endParaRPr lang="en-US" b="1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A0C2522F-84ED-0D19-C8B3-7AB6B15DCF20}"/>
              </a:ext>
            </a:extLst>
          </p:cNvPr>
          <p:cNvSpPr/>
          <p:nvPr/>
        </p:nvSpPr>
        <p:spPr>
          <a:xfrm>
            <a:off x="811054" y="4899244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RBAC ensures users only access appropriate system features</a:t>
            </a:r>
            <a:endParaRPr lang="en-US" sz="160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932BBD38-72BC-0765-4989-AF8F0FFCD76E}"/>
              </a:ext>
            </a:extLst>
          </p:cNvPr>
          <p:cNvSpPr/>
          <p:nvPr/>
        </p:nvSpPr>
        <p:spPr>
          <a:xfrm>
            <a:off x="561380" y="5491699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6CF6C706-60FF-53E8-4DFB-52C75303E93B}"/>
              </a:ext>
            </a:extLst>
          </p:cNvPr>
          <p:cNvSpPr/>
          <p:nvPr/>
        </p:nvSpPr>
        <p:spPr>
          <a:xfrm>
            <a:off x="538520" y="5491699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76DB8FE1-37CB-64B5-E647-CAE34956970B}"/>
              </a:ext>
            </a:extLst>
          </p:cNvPr>
          <p:cNvSpPr/>
          <p:nvPr/>
        </p:nvSpPr>
        <p:spPr>
          <a:xfrm>
            <a:off x="811054" y="5672793"/>
            <a:ext cx="218015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HTTPS Communication</a:t>
            </a:r>
            <a:endParaRPr lang="en-US" b="1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B67611BC-706C-F863-E044-D714AE8FEC9F}"/>
              </a:ext>
            </a:extLst>
          </p:cNvPr>
          <p:cNvSpPr/>
          <p:nvPr/>
        </p:nvSpPr>
        <p:spPr>
          <a:xfrm>
            <a:off x="811054" y="6090583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data transmission encrypted end-to-end</a:t>
            </a:r>
            <a:endParaRPr lang="en-US" sz="1600" dirty="0"/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A8CADFC-1ED8-1315-8F36-45CD9387646A}"/>
              </a:ext>
            </a:extLst>
          </p:cNvPr>
          <p:cNvSpPr/>
          <p:nvPr/>
        </p:nvSpPr>
        <p:spPr>
          <a:xfrm>
            <a:off x="561380" y="6683038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CAE3F128-4DAB-2570-9FE6-272F2F2D0C81}"/>
              </a:ext>
            </a:extLst>
          </p:cNvPr>
          <p:cNvSpPr/>
          <p:nvPr/>
        </p:nvSpPr>
        <p:spPr>
          <a:xfrm>
            <a:off x="538520" y="6683038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4176211A-B60D-30C1-CC13-44571220516C}"/>
              </a:ext>
            </a:extLst>
          </p:cNvPr>
          <p:cNvSpPr/>
          <p:nvPr/>
        </p:nvSpPr>
        <p:spPr>
          <a:xfrm>
            <a:off x="811054" y="6864132"/>
            <a:ext cx="207692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Sanitization</a:t>
            </a:r>
            <a:endParaRPr lang="en-US" b="1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8584E820-A8A8-3AE1-778D-9C7785903CB0}"/>
              </a:ext>
            </a:extLst>
          </p:cNvPr>
          <p:cNvSpPr/>
          <p:nvPr/>
        </p:nvSpPr>
        <p:spPr>
          <a:xfrm>
            <a:off x="811054" y="7281922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Protection against SQL injection and XSS attacks</a:t>
            </a:r>
            <a:endParaRPr lang="en-US" sz="160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D0536532-EBA9-618C-6AD9-22287F472E07}"/>
              </a:ext>
            </a:extLst>
          </p:cNvPr>
          <p:cNvSpPr/>
          <p:nvPr/>
        </p:nvSpPr>
        <p:spPr>
          <a:xfrm>
            <a:off x="8218884" y="1428215"/>
            <a:ext cx="2492335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28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Testing Results</a:t>
            </a:r>
            <a:endParaRPr lang="en-US" sz="2800" b="1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3B375E66-34C9-16F6-3059-91121B5BDC44}"/>
              </a:ext>
            </a:extLst>
          </p:cNvPr>
          <p:cNvSpPr/>
          <p:nvPr/>
        </p:nvSpPr>
        <p:spPr>
          <a:xfrm>
            <a:off x="8196024" y="2283894"/>
            <a:ext cx="5872996" cy="51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100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30</a:t>
            </a:r>
            <a:endParaRPr lang="en-US" sz="44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637C55E1-1717-7993-B676-F1017A40F3AB}"/>
              </a:ext>
            </a:extLst>
          </p:cNvPr>
          <p:cNvSpPr/>
          <p:nvPr/>
        </p:nvSpPr>
        <p:spPr>
          <a:xfrm>
            <a:off x="10094059" y="2915960"/>
            <a:ext cx="207692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0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Testers</a:t>
            </a:r>
            <a:endParaRPr lang="en-US" sz="2800" dirty="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CC500A06-F9F2-C3BD-E744-B5CFD806273E}"/>
              </a:ext>
            </a:extLst>
          </p:cNvPr>
          <p:cNvSpPr/>
          <p:nvPr/>
        </p:nvSpPr>
        <p:spPr>
          <a:xfrm>
            <a:off x="8196024" y="3287755"/>
            <a:ext cx="587299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validation with diverse user group</a:t>
            </a:r>
            <a:endParaRPr lang="en-US" sz="2000" dirty="0"/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25C2B806-39B3-AA74-C0E2-C8EB2654FD06}"/>
              </a:ext>
            </a:extLst>
          </p:cNvPr>
          <p:cNvSpPr/>
          <p:nvPr/>
        </p:nvSpPr>
        <p:spPr>
          <a:xfrm>
            <a:off x="8456176" y="3834467"/>
            <a:ext cx="5635704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"Interface is smooth, intuitive, and clear. Navigation feels natural and everything works as expected."</a:t>
            </a:r>
            <a:endParaRPr lang="en-US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8C7EDEC3-2707-BD01-617A-2E40D8D11319}"/>
              </a:ext>
            </a:extLst>
          </p:cNvPr>
          <p:cNvSpPr/>
          <p:nvPr/>
        </p:nvSpPr>
        <p:spPr>
          <a:xfrm>
            <a:off x="8264366" y="3832834"/>
            <a:ext cx="22860" cy="506254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84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63C161-224A-08A9-3669-58A8AA449CE1}"/>
              </a:ext>
            </a:extLst>
          </p:cNvPr>
          <p:cNvSpPr/>
          <p:nvPr/>
        </p:nvSpPr>
        <p:spPr>
          <a:xfrm>
            <a:off x="829270" y="35651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54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Stress Test Results</a:t>
            </a:r>
            <a:endParaRPr lang="en-US" sz="5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9DAFC4-718B-B01F-E714-C22F4FBA02CF}"/>
              </a:ext>
            </a:extLst>
          </p:cNvPr>
          <p:cNvSpPr/>
          <p:nvPr/>
        </p:nvSpPr>
        <p:spPr>
          <a:xfrm>
            <a:off x="793790" y="1520227"/>
            <a:ext cx="85388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Validation of system performance under heavy load using Locust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A0BA6D-D745-784C-B0CD-853CB996F5AB}"/>
              </a:ext>
            </a:extLst>
          </p:cNvPr>
          <p:cNvSpPr/>
          <p:nvPr/>
        </p:nvSpPr>
        <p:spPr>
          <a:xfrm>
            <a:off x="793790" y="313568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500</a:t>
            </a:r>
            <a:endParaRPr lang="en-US" sz="5850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92C864-04AB-1AE6-465C-4F71268DCC87}"/>
              </a:ext>
            </a:extLst>
          </p:cNvPr>
          <p:cNvSpPr/>
          <p:nvPr/>
        </p:nvSpPr>
        <p:spPr>
          <a:xfrm>
            <a:off x="829270" y="41674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800" u="sng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Concurrent Users</a:t>
            </a:r>
            <a:endParaRPr lang="en-US" sz="2800" u="sng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8CE3A9-89FC-E6A3-6657-4BCEBFB5A9F6}"/>
              </a:ext>
            </a:extLst>
          </p:cNvPr>
          <p:cNvSpPr/>
          <p:nvPr/>
        </p:nvSpPr>
        <p:spPr>
          <a:xfrm>
            <a:off x="793790" y="4675643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Simulated peak load conditions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27CED8-FE3C-9DCE-55EF-7710769B9703}"/>
              </a:ext>
            </a:extLst>
          </p:cNvPr>
          <p:cNvSpPr/>
          <p:nvPr/>
        </p:nvSpPr>
        <p:spPr>
          <a:xfrm>
            <a:off x="4125278" y="31356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183.6</a:t>
            </a:r>
            <a:endParaRPr lang="en-US" sz="5850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66B231-DB50-EB3B-28F5-1C5D17902157}"/>
              </a:ext>
            </a:extLst>
          </p:cNvPr>
          <p:cNvSpPr/>
          <p:nvPr/>
        </p:nvSpPr>
        <p:spPr>
          <a:xfrm>
            <a:off x="4160758" y="41674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800" u="sng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Requests Per Second</a:t>
            </a:r>
            <a:endParaRPr lang="en-US" sz="2800" u="sng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DB2195E-2AE7-4228-89E3-676B92618E29}"/>
              </a:ext>
            </a:extLst>
          </p:cNvPr>
          <p:cNvSpPr/>
          <p:nvPr/>
        </p:nvSpPr>
        <p:spPr>
          <a:xfrm>
            <a:off x="4125278" y="467564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RPS sustained throughout test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51F18B-0379-46C0-0743-9524ADC9515F}"/>
              </a:ext>
            </a:extLst>
          </p:cNvPr>
          <p:cNvSpPr/>
          <p:nvPr/>
        </p:nvSpPr>
        <p:spPr>
          <a:xfrm>
            <a:off x="7456884" y="31356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1%</a:t>
            </a:r>
            <a:endParaRPr lang="en-US" sz="585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8DA5F9-AF99-9266-82F7-FA62249A333B}"/>
              </a:ext>
            </a:extLst>
          </p:cNvPr>
          <p:cNvSpPr/>
          <p:nvPr/>
        </p:nvSpPr>
        <p:spPr>
          <a:xfrm>
            <a:off x="7492365" y="41674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800" u="sng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Failure Rate</a:t>
            </a:r>
            <a:endParaRPr lang="en-US" sz="2800" u="sng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937EC7B-EDCC-BAE3-C48C-DB9F422DC20B}"/>
              </a:ext>
            </a:extLst>
          </p:cNvPr>
          <p:cNvSpPr/>
          <p:nvPr/>
        </p:nvSpPr>
        <p:spPr>
          <a:xfrm>
            <a:off x="7456884" y="467564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Exceptional reliability under stress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CA02069-EFBF-BE2A-76E2-EC4ECD7069AF}"/>
              </a:ext>
            </a:extLst>
          </p:cNvPr>
          <p:cNvSpPr/>
          <p:nvPr/>
        </p:nvSpPr>
        <p:spPr>
          <a:xfrm>
            <a:off x="10788491" y="31356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140ms</a:t>
            </a:r>
            <a:endParaRPr lang="en-US" sz="585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CD6702C-FD4A-C586-7408-589AD26D00BF}"/>
              </a:ext>
            </a:extLst>
          </p:cNvPr>
          <p:cNvSpPr/>
          <p:nvPr/>
        </p:nvSpPr>
        <p:spPr>
          <a:xfrm>
            <a:off x="10788491" y="4167485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800" u="sng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Median Response Time</a:t>
            </a:r>
            <a:endParaRPr lang="en-US" sz="2800" u="sng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BFAD83-17FB-612E-08DE-C942A4E5E703}"/>
              </a:ext>
            </a:extLst>
          </p:cNvPr>
          <p:cNvSpPr/>
          <p:nvPr/>
        </p:nvSpPr>
        <p:spPr>
          <a:xfrm>
            <a:off x="10788491" y="504771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Lightning-fast user experience</a:t>
            </a:r>
            <a:endParaRPr lang="en-US" sz="2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5B5F71F-F4EB-3FF7-3A85-5E57663D2DEC}"/>
              </a:ext>
            </a:extLst>
          </p:cNvPr>
          <p:cNvSpPr/>
          <p:nvPr/>
        </p:nvSpPr>
        <p:spPr>
          <a:xfrm>
            <a:off x="793789" y="650323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400" b="1" u="sng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results demonstrate that the system can comfortably handle large-scale deployment across multiple departments and campuses simultaneously.</a:t>
            </a:r>
            <a:endParaRPr lang="en-US" sz="2400" b="1" u="sng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3F15C5-26EC-B7DA-5D98-58E9762A2A26}"/>
              </a:ext>
            </a:extLst>
          </p:cNvPr>
          <p:cNvCxnSpPr/>
          <p:nvPr/>
        </p:nvCxnSpPr>
        <p:spPr>
          <a:xfrm>
            <a:off x="405114" y="1608881"/>
            <a:ext cx="0" cy="6180881"/>
          </a:xfrm>
          <a:prstGeom prst="line">
            <a:avLst/>
          </a:prstGeom>
          <a:ln w="4762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134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470FCE-2073-FCA7-17BE-EB654F6B66EC}"/>
              </a:ext>
            </a:extLst>
          </p:cNvPr>
          <p:cNvSpPr/>
          <p:nvPr/>
        </p:nvSpPr>
        <p:spPr>
          <a:xfrm>
            <a:off x="597020" y="34902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6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Stakeholder Benefits</a:t>
            </a:r>
            <a:endParaRPr lang="en-US" sz="6000" b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877C2D-98F2-CB07-9396-9AC9BB4C2976}"/>
              </a:ext>
            </a:extLst>
          </p:cNvPr>
          <p:cNvSpPr/>
          <p:nvPr/>
        </p:nvSpPr>
        <p:spPr>
          <a:xfrm>
            <a:off x="770273" y="2303382"/>
            <a:ext cx="873332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D387FC12-A040-33E8-009F-4EA633C5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76" y="2484774"/>
            <a:ext cx="283488" cy="22681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84AE626-E9AA-1FDD-3B8E-76BFDD175456}"/>
              </a:ext>
            </a:extLst>
          </p:cNvPr>
          <p:cNvSpPr/>
          <p:nvPr/>
        </p:nvSpPr>
        <p:spPr>
          <a:xfrm>
            <a:off x="738764" y="3312780"/>
            <a:ext cx="31934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Placement Coordinators</a:t>
            </a:r>
            <a:endParaRPr lang="en-US" sz="240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D72E2ED-9F0C-404E-DAD7-55C12BEED02D}"/>
              </a:ext>
            </a:extLst>
          </p:cNvPr>
          <p:cNvSpPr/>
          <p:nvPr/>
        </p:nvSpPr>
        <p:spPr>
          <a:xfrm>
            <a:off x="793790" y="42250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Eliminates manual eligibility verification saving hours daily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9A0829-E315-0453-FAF1-1180F2A8FE19}"/>
              </a:ext>
            </a:extLst>
          </p:cNvPr>
          <p:cNvSpPr/>
          <p:nvPr/>
        </p:nvSpPr>
        <p:spPr>
          <a:xfrm>
            <a:off x="793790" y="50301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administrative overhead by up to 70%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1219FE9-14A0-642A-AA69-47FFBF20777D}"/>
              </a:ext>
            </a:extLst>
          </p:cNvPr>
          <p:cNvSpPr/>
          <p:nvPr/>
        </p:nvSpPr>
        <p:spPr>
          <a:xfrm>
            <a:off x="793790" y="58352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Analytics-driven decisions from real-time reports and insights</a:t>
            </a:r>
            <a:endParaRPr lang="en-US" sz="2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26FE802-FAC9-1C94-A5BA-3A18411252A5}"/>
              </a:ext>
            </a:extLst>
          </p:cNvPr>
          <p:cNvSpPr/>
          <p:nvPr/>
        </p:nvSpPr>
        <p:spPr>
          <a:xfrm>
            <a:off x="5208364" y="2293865"/>
            <a:ext cx="873332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2B60B4DA-3834-DF81-383A-2B94BBE0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795" y="2545763"/>
            <a:ext cx="283488" cy="22681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A57C9B8-3809-E36D-F337-1150A6262EF2}"/>
              </a:ext>
            </a:extLst>
          </p:cNvPr>
          <p:cNvSpPr/>
          <p:nvPr/>
        </p:nvSpPr>
        <p:spPr>
          <a:xfrm>
            <a:off x="5235893" y="33127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Recruiters</a:t>
            </a:r>
            <a:endParaRPr lang="en-US" sz="2400" b="1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B74F878-62AD-400C-51CD-3EC5BB2CDA32}"/>
              </a:ext>
            </a:extLst>
          </p:cNvPr>
          <p:cNvSpPr/>
          <p:nvPr/>
        </p:nvSpPr>
        <p:spPr>
          <a:xfrm>
            <a:off x="5235893" y="42250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pre-verified, high-quality candidate data instantly</a:t>
            </a:r>
            <a:endParaRPr lang="en-US" sz="2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B5D7A23-EF57-ECF8-6F56-A9F8BFC18622}"/>
              </a:ext>
            </a:extLst>
          </p:cNvPr>
          <p:cNvSpPr/>
          <p:nvPr/>
        </p:nvSpPr>
        <p:spPr>
          <a:xfrm>
            <a:off x="5235893" y="50301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Streamlined communication through single point of contact</a:t>
            </a:r>
            <a:endParaRPr lang="en-US" sz="2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B5B7E17-FFE1-3C03-F027-452BC4BC97FB}"/>
              </a:ext>
            </a:extLst>
          </p:cNvPr>
          <p:cNvSpPr/>
          <p:nvPr/>
        </p:nvSpPr>
        <p:spPr>
          <a:xfrm>
            <a:off x="5235893" y="58352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hiring process with qualified applicants only</a:t>
            </a:r>
            <a:endParaRPr lang="en-US" sz="20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014E7CE-8EB2-ED7D-E701-FF2C55AF00EE}"/>
              </a:ext>
            </a:extLst>
          </p:cNvPr>
          <p:cNvSpPr/>
          <p:nvPr/>
        </p:nvSpPr>
        <p:spPr>
          <a:xfrm>
            <a:off x="9592985" y="2307992"/>
            <a:ext cx="873332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6" name="Image 2">
            <a:extLst>
              <a:ext uri="{FF2B5EF4-FFF2-40B4-BE49-F238E27FC236}">
                <a16:creationId xmlns:a16="http://schemas.microsoft.com/office/drawing/2014/main" id="{8FBD3475-ACAE-DF3A-FFEB-09BD503BA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309497" y="2545763"/>
            <a:ext cx="283488" cy="22681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C396AB5-3FBA-2C51-4511-087A8CE9D2F8}"/>
              </a:ext>
            </a:extLst>
          </p:cNvPr>
          <p:cNvSpPr/>
          <p:nvPr/>
        </p:nvSpPr>
        <p:spPr>
          <a:xfrm>
            <a:off x="9592985" y="334326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Institution</a:t>
            </a:r>
            <a:endParaRPr lang="en-US" sz="2400" b="1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A8E6202-2ABA-6B8D-990C-99B2392CBB36}"/>
              </a:ext>
            </a:extLst>
          </p:cNvPr>
          <p:cNvSpPr/>
          <p:nvPr/>
        </p:nvSpPr>
        <p:spPr>
          <a:xfrm>
            <a:off x="9677995" y="411480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reputation with modern, efficient placement process</a:t>
            </a:r>
            <a:endParaRPr lang="en-US" sz="20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1093F02-0296-537B-583F-8C73DC7FD103}"/>
              </a:ext>
            </a:extLst>
          </p:cNvPr>
          <p:cNvSpPr/>
          <p:nvPr/>
        </p:nvSpPr>
        <p:spPr>
          <a:xfrm>
            <a:off x="9677995" y="536075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 architecture grows with institutional needs</a:t>
            </a:r>
            <a:endParaRPr lang="en-US" sz="20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BDEFB4-ACCD-529C-076E-646A29ECFD69}"/>
              </a:ext>
            </a:extLst>
          </p:cNvPr>
          <p:cNvSpPr/>
          <p:nvPr/>
        </p:nvSpPr>
        <p:spPr>
          <a:xfrm>
            <a:off x="9677994" y="6198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Enhanced data security and compliance</a:t>
            </a:r>
            <a:endParaRPr lang="en-US" sz="2000" dirty="0"/>
          </a:p>
        </p:txBody>
      </p:sp>
      <p:pic>
        <p:nvPicPr>
          <p:cNvPr id="22" name="Graphic 21" descr="Books with solid fill">
            <a:extLst>
              <a:ext uri="{FF2B5EF4-FFF2-40B4-BE49-F238E27FC236}">
                <a16:creationId xmlns:a16="http://schemas.microsoft.com/office/drawing/2014/main" id="{84DE6D59-C065-EF7D-41EB-FFA14588C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5405" y="2357472"/>
            <a:ext cx="457200" cy="504303"/>
          </a:xfrm>
          <a:prstGeom prst="rect">
            <a:avLst/>
          </a:prstGeom>
        </p:spPr>
      </p:pic>
      <p:pic>
        <p:nvPicPr>
          <p:cNvPr id="24" name="Graphic 23" descr="Boardroom with solid fill">
            <a:extLst>
              <a:ext uri="{FF2B5EF4-FFF2-40B4-BE49-F238E27FC236}">
                <a16:creationId xmlns:a16="http://schemas.microsoft.com/office/drawing/2014/main" id="{1C00F63F-1109-3915-EDF4-789527E4C7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273" y="2129343"/>
            <a:ext cx="914400" cy="914400"/>
          </a:xfrm>
          <a:prstGeom prst="rect">
            <a:avLst/>
          </a:prstGeom>
        </p:spPr>
      </p:pic>
      <p:pic>
        <p:nvPicPr>
          <p:cNvPr id="26" name="Graphic 25" descr="Handshake with solid fill">
            <a:extLst>
              <a:ext uri="{FF2B5EF4-FFF2-40B4-BE49-F238E27FC236}">
                <a16:creationId xmlns:a16="http://schemas.microsoft.com/office/drawing/2014/main" id="{C3B4A9F7-69F9-AA12-1E2E-34E7DF884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1169" y="21837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88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75DFCA-91A3-9461-915C-27F9D3897180}"/>
              </a:ext>
            </a:extLst>
          </p:cNvPr>
          <p:cNvSpPr/>
          <p:nvPr/>
        </p:nvSpPr>
        <p:spPr>
          <a:xfrm>
            <a:off x="654894" y="548953"/>
            <a:ext cx="1015067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8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Transforming Placement Management</a:t>
            </a:r>
            <a:endParaRPr lang="en-US" sz="48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9A8614-A764-4F43-70D3-85EBE6A1D2E4}"/>
              </a:ext>
            </a:extLst>
          </p:cNvPr>
          <p:cNvSpPr/>
          <p:nvPr/>
        </p:nvSpPr>
        <p:spPr>
          <a:xfrm>
            <a:off x="654894" y="16652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Administrator Module transforms the manual placement process into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secure, automated, and data-driven system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benefits all stakeholders.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44118-1330-B5FF-0A76-5031E267B661}"/>
              </a:ext>
            </a:extLst>
          </p:cNvPr>
          <p:cNvSpPr/>
          <p:nvPr/>
        </p:nvSpPr>
        <p:spPr>
          <a:xfrm>
            <a:off x="5266641" y="3011406"/>
            <a:ext cx="4063158" cy="2994167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66E714-6E62-1735-EB6A-9A9F68FBDAE7}"/>
              </a:ext>
            </a:extLst>
          </p:cNvPr>
          <p:cNvSpPr/>
          <p:nvPr/>
        </p:nvSpPr>
        <p:spPr>
          <a:xfrm>
            <a:off x="683747" y="3035208"/>
            <a:ext cx="4347567" cy="2994166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98086A-F140-76C5-38D1-909EE0EEFA72}"/>
              </a:ext>
            </a:extLst>
          </p:cNvPr>
          <p:cNvSpPr/>
          <p:nvPr/>
        </p:nvSpPr>
        <p:spPr>
          <a:xfrm>
            <a:off x="1013876" y="33164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Integrated Solution</a:t>
            </a:r>
            <a:endParaRPr lang="en-US" sz="23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1FA96E-E75B-D11C-016D-1B7695854EF1}"/>
              </a:ext>
            </a:extLst>
          </p:cNvPr>
          <p:cNvSpPr/>
          <p:nvPr/>
        </p:nvSpPr>
        <p:spPr>
          <a:xfrm>
            <a:off x="983297" y="403003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management, Google Form automation, and Master Data Sheet work seamlessly together</a:t>
            </a:r>
            <a:endParaRPr lang="en-US"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51C5914-8E4B-87BF-F59E-E2352ABCF4FB}"/>
              </a:ext>
            </a:extLst>
          </p:cNvPr>
          <p:cNvSpPr/>
          <p:nvPr/>
        </p:nvSpPr>
        <p:spPr>
          <a:xfrm>
            <a:off x="5141357" y="3688496"/>
            <a:ext cx="30480" cy="205049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9DC2E8-172D-F22B-D26F-CD05F639C7E2}"/>
              </a:ext>
            </a:extLst>
          </p:cNvPr>
          <p:cNvSpPr/>
          <p:nvPr/>
        </p:nvSpPr>
        <p:spPr>
          <a:xfrm>
            <a:off x="5391923" y="33396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Proven Reliability</a:t>
            </a:r>
            <a:endParaRPr lang="en-US" sz="23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2DA4B4-207F-809A-EC57-887074506DE9}"/>
              </a:ext>
            </a:extLst>
          </p:cNvPr>
          <p:cNvSpPr/>
          <p:nvPr/>
        </p:nvSpPr>
        <p:spPr>
          <a:xfrm>
            <a:off x="5368230" y="4013026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Stress tested at 183.6 RPS with 500 concurrent users and only 1% failure rate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A3EBC38-DF2F-1FAE-1C02-594A178DBD26}"/>
              </a:ext>
            </a:extLst>
          </p:cNvPr>
          <p:cNvSpPr/>
          <p:nvPr/>
        </p:nvSpPr>
        <p:spPr>
          <a:xfrm>
            <a:off x="9614207" y="2999973"/>
            <a:ext cx="4252764" cy="2994167"/>
          </a:xfrm>
          <a:prstGeom prst="rect">
            <a:avLst/>
          </a:prstGeom>
          <a:solidFill>
            <a:srgbClr val="F2EEEE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27630A-3A9D-406C-F6BB-A6DEBA8AF4E3}"/>
              </a:ext>
            </a:extLst>
          </p:cNvPr>
          <p:cNvSpPr/>
          <p:nvPr/>
        </p:nvSpPr>
        <p:spPr>
          <a:xfrm>
            <a:off x="9488924" y="3688496"/>
            <a:ext cx="30480" cy="205049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4A4D23-D513-820E-E693-70F568BADDD7}"/>
              </a:ext>
            </a:extLst>
          </p:cNvPr>
          <p:cNvSpPr/>
          <p:nvPr/>
        </p:nvSpPr>
        <p:spPr>
          <a:xfrm>
            <a:off x="9715738" y="33164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Ready for Scale</a:t>
            </a:r>
            <a:endParaRPr lang="en-US" sz="23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D36D4B-B132-0574-35DC-76BAF30B48BC}"/>
              </a:ext>
            </a:extLst>
          </p:cNvPr>
          <p:cNvSpPr/>
          <p:nvPr/>
        </p:nvSpPr>
        <p:spPr>
          <a:xfrm>
            <a:off x="9648051" y="4030037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on modern architecture designed to grow with your institution's needs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A97DFE-6C4A-8434-392F-4C05C7DEB6E0}"/>
              </a:ext>
            </a:extLst>
          </p:cNvPr>
          <p:cNvSpPr/>
          <p:nvPr/>
        </p:nvSpPr>
        <p:spPr>
          <a:xfrm>
            <a:off x="698926" y="66734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system empowers placement coordinators to focus on strategic initiatives rather than manual data management, ultimately leading to better outcomes for students and stronger relationships with recruiting companies.</a:t>
            </a:r>
            <a:endParaRPr lang="en-US" sz="2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7C3F8E-4757-4B5E-6147-37B6DAC7E772}"/>
              </a:ext>
            </a:extLst>
          </p:cNvPr>
          <p:cNvCxnSpPr/>
          <p:nvPr/>
        </p:nvCxnSpPr>
        <p:spPr>
          <a:xfrm>
            <a:off x="698926" y="4861367"/>
            <a:ext cx="0" cy="1132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0433D1-CB28-13CC-0406-5E4C69B5940F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851326" y="6029374"/>
            <a:ext cx="2006205" cy="119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FB460B-6754-DFF5-5D86-C7D2D49738CD}"/>
              </a:ext>
            </a:extLst>
          </p:cNvPr>
          <p:cNvCxnSpPr/>
          <p:nvPr/>
        </p:nvCxnSpPr>
        <p:spPr>
          <a:xfrm>
            <a:off x="5031314" y="3239089"/>
            <a:ext cx="0" cy="1132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623553-79B0-EE76-03B8-D8FA82B75A25}"/>
              </a:ext>
            </a:extLst>
          </p:cNvPr>
          <p:cNvCxnSpPr/>
          <p:nvPr/>
        </p:nvCxnSpPr>
        <p:spPr>
          <a:xfrm>
            <a:off x="13866971" y="3145335"/>
            <a:ext cx="0" cy="1132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487EF6-986D-3431-F52B-EA59AE75A31D}"/>
              </a:ext>
            </a:extLst>
          </p:cNvPr>
          <p:cNvCxnSpPr/>
          <p:nvPr/>
        </p:nvCxnSpPr>
        <p:spPr>
          <a:xfrm>
            <a:off x="9614207" y="4908559"/>
            <a:ext cx="0" cy="1132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803CFB-77FE-0492-AB7C-CF1507B239E5}"/>
              </a:ext>
            </a:extLst>
          </p:cNvPr>
          <p:cNvCxnSpPr/>
          <p:nvPr/>
        </p:nvCxnSpPr>
        <p:spPr>
          <a:xfrm>
            <a:off x="9332608" y="3145335"/>
            <a:ext cx="0" cy="1132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47B634-0793-FF49-45F1-6775F34723F1}"/>
              </a:ext>
            </a:extLst>
          </p:cNvPr>
          <p:cNvCxnSpPr/>
          <p:nvPr/>
        </p:nvCxnSpPr>
        <p:spPr>
          <a:xfrm>
            <a:off x="5278801" y="4872800"/>
            <a:ext cx="0" cy="11327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49A639C-DE5C-A380-E2FB-81D3E9444695}"/>
              </a:ext>
            </a:extLst>
          </p:cNvPr>
          <p:cNvCxnSpPr>
            <a:cxnSpLocks/>
          </p:cNvCxnSpPr>
          <p:nvPr/>
        </p:nvCxnSpPr>
        <p:spPr>
          <a:xfrm flipH="1">
            <a:off x="9648051" y="5994138"/>
            <a:ext cx="236693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71AD9E-086F-D7FF-9CE8-52EE1BAA21FD}"/>
              </a:ext>
            </a:extLst>
          </p:cNvPr>
          <p:cNvCxnSpPr>
            <a:cxnSpLocks/>
          </p:cNvCxnSpPr>
          <p:nvPr/>
        </p:nvCxnSpPr>
        <p:spPr>
          <a:xfrm flipH="1" flipV="1">
            <a:off x="5514127" y="5994138"/>
            <a:ext cx="2017266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F53828-9ABF-6955-BE28-51D489B106EA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2857531" y="3035208"/>
            <a:ext cx="201970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A2E341-ED79-F498-BAD5-8DEA122A33E3}"/>
              </a:ext>
            </a:extLst>
          </p:cNvPr>
          <p:cNvCxnSpPr>
            <a:cxnSpLocks/>
          </p:cNvCxnSpPr>
          <p:nvPr/>
        </p:nvCxnSpPr>
        <p:spPr>
          <a:xfrm>
            <a:off x="11526037" y="2971649"/>
            <a:ext cx="2234464" cy="516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117B10-26B6-824F-CECE-C842C273ED0E}"/>
              </a:ext>
            </a:extLst>
          </p:cNvPr>
          <p:cNvCxnSpPr>
            <a:cxnSpLocks/>
          </p:cNvCxnSpPr>
          <p:nvPr/>
        </p:nvCxnSpPr>
        <p:spPr>
          <a:xfrm>
            <a:off x="6880442" y="3011406"/>
            <a:ext cx="23645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03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1297</Words>
  <Application>Microsoft Office PowerPoint</Application>
  <PresentationFormat>Custom</PresentationFormat>
  <Paragraphs>197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DM Sans</vt:lpstr>
      <vt:lpstr>Arial Rounded MT Bold</vt:lpstr>
      <vt:lpstr>Times New Roman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Gaurav Singh</dc:creator>
  <cp:lastModifiedBy>Gaurav Singh</cp:lastModifiedBy>
  <cp:revision>4</cp:revision>
  <dcterms:created xsi:type="dcterms:W3CDTF">2025-10-26T17:13:50Z</dcterms:created>
  <dcterms:modified xsi:type="dcterms:W3CDTF">2025-10-27T17:09:45Z</dcterms:modified>
</cp:coreProperties>
</file>