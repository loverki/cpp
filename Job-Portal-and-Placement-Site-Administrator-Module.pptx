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14630400" cy="8229600"/>
  <p:notesSz cx="8229600" cy="14630400"/>
  <p:embeddedFontLst>
    <p:embeddedFont>
      <p:font typeface="DM Sans" pitchFamily="2" charset="0"/>
      <p:regular r:id="rId18"/>
    </p:embeddedFont>
    <p:embeddedFont>
      <p:font typeface="PT Serif" panose="020A0603040505020204" pitchFamily="18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6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5E715A-41C2-1E71-7D57-ABBD44B8C208}"/>
              </a:ext>
            </a:extLst>
          </p:cNvPr>
          <p:cNvSpPr/>
          <p:nvPr/>
        </p:nvSpPr>
        <p:spPr>
          <a:xfrm>
            <a:off x="793790" y="2189104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Portal &amp; Placement Site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0F7ECC-F6AD-F50E-036F-4494C9E2EDE6}"/>
              </a:ext>
            </a:extLst>
          </p:cNvPr>
          <p:cNvSpPr/>
          <p:nvPr/>
        </p:nvSpPr>
        <p:spPr>
          <a:xfrm>
            <a:off x="1050268" y="3457566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Team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EC554B-0924-E59F-C27A-8D881EF17238}"/>
              </a:ext>
            </a:extLst>
          </p:cNvPr>
          <p:cNvSpPr/>
          <p:nvPr/>
        </p:nvSpPr>
        <p:spPr>
          <a:xfrm>
            <a:off x="793790" y="4143970"/>
            <a:ext cx="3711303" cy="201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Siddharth </a:t>
            </a: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Karmokar</a:t>
            </a: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Rushikesh </a:t>
            </a:r>
            <a:r>
              <a:rPr lang="en-US" sz="17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Iche</a:t>
            </a: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Gaurav Singh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Rineet Pandey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2A6F1D1-442F-62CB-AA2C-AA6DF1D26542}"/>
              </a:ext>
            </a:extLst>
          </p:cNvPr>
          <p:cNvSpPr/>
          <p:nvPr/>
        </p:nvSpPr>
        <p:spPr>
          <a:xfrm>
            <a:off x="8051180" y="4003288"/>
            <a:ext cx="5785431" cy="24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383838"/>
                </a:solidFill>
                <a:latin typeface="Times New Roman" panose="02020603050405020304" pitchFamily="18" charset="0"/>
                <a:ea typeface="DM Sans" pitchFamily="34" charset="-122"/>
                <a:cs typeface="Times New Roman" panose="02020603050405020304" pitchFamily="18" charset="0"/>
              </a:rPr>
              <a:t>Project Supervisor: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2800" b="1" dirty="0">
              <a:solidFill>
                <a:srgbClr val="383838"/>
              </a:solidFill>
              <a:latin typeface="Times New Roman" panose="02020603050405020304" pitchFamily="18" charset="0"/>
              <a:ea typeface="DM Sans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Dr. V. Siva Rama Krishniah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58BF5B-D75D-F32A-8B21-14DE60411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872" y="313057"/>
            <a:ext cx="1409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0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7228"/>
            <a:ext cx="71038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Introduction: The Problem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351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traditional campus placement process remains fundamentally manual, creating significant operational challenges that impact both efficiency and accuracy.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16072"/>
            <a:ext cx="4196358" cy="2776299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042886"/>
            <a:ext cx="36535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Time-Intensive Verification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455104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Coordinators manually verify student eligibility criteria for each company, consuming valuable hours that could be spent on strategic activities.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816072"/>
            <a:ext cx="4196358" cy="2776299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0428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Fragmented Data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43776" y="455104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information is scattered across multiple spreadsheets, email threads, and physical documents with no single source of truth.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816072"/>
            <a:ext cx="4196358" cy="2776299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042886"/>
            <a:ext cx="312265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Error-Prone Operations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66948" y="455104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data entry and processing creates operational bottlenecks and increases the risk of costly human errors in student placements.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87414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43188"/>
            <a:ext cx="7229832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Solution: Core Objectives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28424" y="1842373"/>
            <a:ext cx="13173551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administrator-side system transforms placement operations through intelligent automation, centralized data management, and powerful administrative tools designed to eliminate inefficiencies.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8424" y="2742248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8424" y="3073122"/>
            <a:ext cx="425243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28424" y="3222903"/>
            <a:ext cx="290405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Centralize Student Data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728424" y="3689032"/>
            <a:ext cx="4252436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 a unified repository consolidating all student profiles, academic records, and placement preferences into one secure, accessible location.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88982" y="2742248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88982" y="3073122"/>
            <a:ext cx="425243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188982" y="3222903"/>
            <a:ext cx="292977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 Manual Tasks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5188982" y="3689032"/>
            <a:ext cx="4252436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 repetitive work by automating account initialization workflows and eligibility verification processes based on predefined criteria.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49539" y="2742248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49539" y="3073122"/>
            <a:ext cx="4252436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649539" y="3222903"/>
            <a:ext cx="2765703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Streamline Job Posting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9649539" y="3689032"/>
            <a:ext cx="4252436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efficient job opportunity creation with seamless Google Form integration for application collection and automated distribution.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424" y="5384840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8424" y="5715714"/>
            <a:ext cx="6482715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28424" y="5865495"/>
            <a:ext cx="273165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Provide Master Sheet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28424" y="6331625"/>
            <a:ext cx="6482715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 comprehensive analytics through a single master sheet that logs all company interactions and tracks student application statuses in real-time.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19261" y="5384840"/>
            <a:ext cx="208121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19261" y="5715714"/>
            <a:ext cx="6482715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2" name="Text 20"/>
          <p:cNvSpPr/>
          <p:nvPr/>
        </p:nvSpPr>
        <p:spPr>
          <a:xfrm>
            <a:off x="7419261" y="5865495"/>
            <a:ext cx="2731651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Ensure Data Integrity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419261" y="6331625"/>
            <a:ext cx="6482715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admin-controlled profile modification protocols after initial student edits to maintain data accuracy and prevent unauthorized changes.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0982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956905"/>
            <a:ext cx="5767268" cy="720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Technology Stack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68906" y="2117169"/>
            <a:ext cx="1309258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carefully selected, high-performance technology ecosystem engineered for scalability, security, and optimal user experience.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8906" y="3045143"/>
            <a:ext cx="4217670" cy="2346008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8906" y="3014663"/>
            <a:ext cx="4217670" cy="121920"/>
          </a:xfrm>
          <a:prstGeom prst="roundRect">
            <a:avLst>
              <a:gd name="adj" fmla="val 27031"/>
            </a:avLst>
          </a:prstGeom>
          <a:solidFill>
            <a:srgbClr val="E04F00"/>
          </a:solidFill>
          <a:ln/>
        </p:spPr>
      </p:sp>
      <p:sp>
        <p:nvSpPr>
          <p:cNvPr id="6" name="Shape 4"/>
          <p:cNvSpPr/>
          <p:nvPr/>
        </p:nvSpPr>
        <p:spPr>
          <a:xfrm>
            <a:off x="2548235" y="2715697"/>
            <a:ext cx="659011" cy="659011"/>
          </a:xfrm>
          <a:prstGeom prst="roundRect">
            <a:avLst>
              <a:gd name="adj" fmla="val 138753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1019056" y="3594378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Frontend Framework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19056" y="4086582"/>
            <a:ext cx="3717369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ReactJS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Tailwind CSS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responsive, component-based UI development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06246" y="3045143"/>
            <a:ext cx="4217789" cy="2346008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06246" y="3014663"/>
            <a:ext cx="4217789" cy="121920"/>
          </a:xfrm>
          <a:prstGeom prst="roundRect">
            <a:avLst>
              <a:gd name="adj" fmla="val 27031"/>
            </a:avLst>
          </a:prstGeom>
          <a:solidFill>
            <a:srgbClr val="E04F00"/>
          </a:solidFill>
          <a:ln/>
        </p:spPr>
      </p:sp>
      <p:sp>
        <p:nvSpPr>
          <p:cNvPr id="11" name="Shape 9"/>
          <p:cNvSpPr/>
          <p:nvPr/>
        </p:nvSpPr>
        <p:spPr>
          <a:xfrm>
            <a:off x="6985575" y="2715697"/>
            <a:ext cx="659011" cy="659011"/>
          </a:xfrm>
          <a:prstGeom prst="roundRect">
            <a:avLst>
              <a:gd name="adj" fmla="val 138753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5456396" y="3594378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API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56396" y="4086582"/>
            <a:ext cx="3717488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(Python) delivering high-speed, asynchronous request handling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43705" y="3045143"/>
            <a:ext cx="4217789" cy="2346008"/>
          </a:xfrm>
          <a:prstGeom prst="roundRect">
            <a:avLst>
              <a:gd name="adj" fmla="val 623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3705" y="3014663"/>
            <a:ext cx="4217789" cy="121920"/>
          </a:xfrm>
          <a:prstGeom prst="roundRect">
            <a:avLst>
              <a:gd name="adj" fmla="val 27031"/>
            </a:avLst>
          </a:prstGeom>
          <a:solidFill>
            <a:srgbClr val="E04F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23035" y="2715697"/>
            <a:ext cx="659011" cy="659011"/>
          </a:xfrm>
          <a:prstGeom prst="roundRect">
            <a:avLst>
              <a:gd name="adj" fmla="val 138753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17" name="Text 15"/>
          <p:cNvSpPr/>
          <p:nvPr/>
        </p:nvSpPr>
        <p:spPr>
          <a:xfrm>
            <a:off x="9893856" y="3594378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Database System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893856" y="4086582"/>
            <a:ext cx="3717488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MongoDB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providing flexible, document-based data storage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8906" y="5638205"/>
            <a:ext cx="4217670" cy="1634490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988576" y="5857875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Authentication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88576" y="6350079"/>
            <a:ext cx="3778329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JWT-based secure login system with token refresh mechanisms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206246" y="5638205"/>
            <a:ext cx="4217789" cy="1634490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5425916" y="5857875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5425916" y="6350079"/>
            <a:ext cx="3778448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APIs (Sheets &amp; Forms) for seamless data synchronization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643705" y="5638205"/>
            <a:ext cx="4217789" cy="1634490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9863376" y="5857875"/>
            <a:ext cx="2883575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Version Control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863376" y="6350079"/>
            <a:ext cx="3778448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for collaborative development and code management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9102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744"/>
            <a:ext cx="6627138" cy="73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Architecture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4384" y="1800225"/>
            <a:ext cx="13061633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sophisticated hybrid cloud infrastructure designed for reliability, performance, and seamless scalability across global user bases.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84" y="2769275"/>
            <a:ext cx="4353878" cy="8964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8459" y="3889772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Frontend Layer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008459" y="4391858"/>
            <a:ext cx="3905726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Deployed on </a:t>
            </a: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Vercel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global CDN distribution and automated build pipelines for instant updates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261" y="2769275"/>
            <a:ext cx="4353878" cy="8964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2337" y="3889772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Backend Layer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5362337" y="4391858"/>
            <a:ext cx="3905726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Hosted on </a:t>
            </a: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 EC2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Dockerized FastAPI server and Nginx reverse proxy configuration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139" y="2769275"/>
            <a:ext cx="4353878" cy="8964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6214" y="3889772"/>
            <a:ext cx="2941677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&amp; Scale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9716214" y="4391858"/>
            <a:ext cx="3905726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 via AWS Certificate Manager with Elastic Load Balancer and Auto-Scaling Groups for dynamic capacity management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84384" y="6301978"/>
            <a:ext cx="13061633" cy="1310759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59" y="6637377"/>
            <a:ext cx="280154" cy="2240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12689" y="6582013"/>
            <a:ext cx="12109252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Production-Ready Infrastructure: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deployment architecture ensures 99.9% uptime, automatic failover capabilities, and horizontal scaling to handle peak placement season traffic.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67768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67B42B-BB33-3460-E4F1-C2E836F28804}"/>
              </a:ext>
            </a:extLst>
          </p:cNvPr>
          <p:cNvSpPr/>
          <p:nvPr/>
        </p:nvSpPr>
        <p:spPr>
          <a:xfrm>
            <a:off x="793790" y="136046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Admin Modules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8F9CBE-9869-69B3-4D27-782C3877EAE1}"/>
              </a:ext>
            </a:extLst>
          </p:cNvPr>
          <p:cNvSpPr/>
          <p:nvPr/>
        </p:nvSpPr>
        <p:spPr>
          <a:xfrm>
            <a:off x="793790" y="25583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Administrator Module is built on three foundational pillars that work together to create a seamless placement management experience.</a:t>
            </a:r>
            <a:endParaRPr lang="en-US" sz="1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F58577-18DB-2944-2564-46C5B010DB42}"/>
              </a:ext>
            </a:extLst>
          </p:cNvPr>
          <p:cNvSpPr/>
          <p:nvPr/>
        </p:nvSpPr>
        <p:spPr>
          <a:xfrm>
            <a:off x="793790" y="3539311"/>
            <a:ext cx="4196358" cy="3329821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5C6E45-2F89-25D1-5082-78657A2F90BD}"/>
              </a:ext>
            </a:extLst>
          </p:cNvPr>
          <p:cNvSpPr/>
          <p:nvPr/>
        </p:nvSpPr>
        <p:spPr>
          <a:xfrm>
            <a:off x="1020604" y="377457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D122FE-A9AA-0BF8-55D3-6A526C49FBBA}"/>
              </a:ext>
            </a:extLst>
          </p:cNvPr>
          <p:cNvSpPr/>
          <p:nvPr/>
        </p:nvSpPr>
        <p:spPr>
          <a:xfrm>
            <a:off x="1020604" y="4673381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Management Module</a:t>
            </a:r>
            <a:endParaRPr lang="en-US" sz="2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5A3A32-36F6-8949-B10C-28E0995BF3FC}"/>
              </a:ext>
            </a:extLst>
          </p:cNvPr>
          <p:cNvSpPr/>
          <p:nvPr/>
        </p:nvSpPr>
        <p:spPr>
          <a:xfrm>
            <a:off x="1020604" y="555361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Centralized control over student profiles, credentials, and data integrity</a:t>
            </a:r>
            <a:endParaRPr lang="en-US" sz="1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FB7B24-DF9F-3627-1EDA-557F2AE56056}"/>
              </a:ext>
            </a:extLst>
          </p:cNvPr>
          <p:cNvSpPr/>
          <p:nvPr/>
        </p:nvSpPr>
        <p:spPr>
          <a:xfrm>
            <a:off x="5216962" y="3539311"/>
            <a:ext cx="4196358" cy="3329821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78AF04-EC27-B7C3-EF78-8DEF7AF6EAB4}"/>
              </a:ext>
            </a:extLst>
          </p:cNvPr>
          <p:cNvSpPr/>
          <p:nvPr/>
        </p:nvSpPr>
        <p:spPr>
          <a:xfrm>
            <a:off x="5443776" y="37661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9CF439-3D20-7A1E-36FA-E01F0B231A07}"/>
              </a:ext>
            </a:extLst>
          </p:cNvPr>
          <p:cNvSpPr/>
          <p:nvPr/>
        </p:nvSpPr>
        <p:spPr>
          <a:xfrm>
            <a:off x="5443776" y="4673381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Posting &amp; Google Form Automation</a:t>
            </a:r>
            <a:endParaRPr lang="en-US" sz="2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7879F8A-1624-3D16-3711-2388361D67F9}"/>
              </a:ext>
            </a:extLst>
          </p:cNvPr>
          <p:cNvSpPr/>
          <p:nvPr/>
        </p:nvSpPr>
        <p:spPr>
          <a:xfrm>
            <a:off x="5443776" y="555361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job distribution with intelligent eligibility filtering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91AC99C-7E39-5C49-26D4-1E09707A8237}"/>
              </a:ext>
            </a:extLst>
          </p:cNvPr>
          <p:cNvSpPr/>
          <p:nvPr/>
        </p:nvSpPr>
        <p:spPr>
          <a:xfrm>
            <a:off x="9640133" y="3539311"/>
            <a:ext cx="4196358" cy="3329821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86FA798-D2B0-6149-87BF-4C4CB25444B0}"/>
              </a:ext>
            </a:extLst>
          </p:cNvPr>
          <p:cNvSpPr/>
          <p:nvPr/>
        </p:nvSpPr>
        <p:spPr>
          <a:xfrm>
            <a:off x="9866948" y="37661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BB4916F-549A-2CB6-F8C6-DE676B9EFD1C}"/>
              </a:ext>
            </a:extLst>
          </p:cNvPr>
          <p:cNvSpPr/>
          <p:nvPr/>
        </p:nvSpPr>
        <p:spPr>
          <a:xfrm>
            <a:off x="9866948" y="4673381"/>
            <a:ext cx="349138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Data Sheet Module</a:t>
            </a:r>
            <a:endParaRPr lang="en-US" sz="2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1FD1B5-C62C-2E1D-6850-4BAA7ADFEC9C}"/>
              </a:ext>
            </a:extLst>
          </p:cNvPr>
          <p:cNvSpPr/>
          <p:nvPr/>
        </p:nvSpPr>
        <p:spPr>
          <a:xfrm>
            <a:off x="9866948" y="518154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application tracking via automated Google Sheets integration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627515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3FAE55D7-4859-9C49-FC33-02D576550706}"/>
              </a:ext>
            </a:extLst>
          </p:cNvPr>
          <p:cNvSpPr/>
          <p:nvPr/>
        </p:nvSpPr>
        <p:spPr>
          <a:xfrm>
            <a:off x="793790" y="1063644"/>
            <a:ext cx="849927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1: Student Management</a:t>
            </a:r>
            <a:endParaRPr lang="en-US" sz="46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2DAE60AC-DF7D-B5C7-0108-AE9AE62767ED}"/>
              </a:ext>
            </a:extLst>
          </p:cNvPr>
          <p:cNvSpPr/>
          <p:nvPr/>
        </p:nvSpPr>
        <p:spPr>
          <a:xfrm>
            <a:off x="793790" y="22615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module provides comprehensive administrative control over student data throughout the entire placement lifecycle.</a:t>
            </a:r>
            <a:endParaRPr lang="en-US" sz="175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89322028-7413-8259-9295-10BF4FD7AB3F}"/>
              </a:ext>
            </a:extLst>
          </p:cNvPr>
          <p:cNvSpPr/>
          <p:nvPr/>
        </p:nvSpPr>
        <p:spPr>
          <a:xfrm>
            <a:off x="793790" y="28795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102EF344-357A-D1CA-3612-1A40D9FBEC10}"/>
              </a:ext>
            </a:extLst>
          </p:cNvPr>
          <p:cNvSpPr/>
          <p:nvPr/>
        </p:nvSpPr>
        <p:spPr>
          <a:xfrm>
            <a:off x="793790" y="323462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D8F2795F-1C5C-3B3A-07CD-767849437A1A}"/>
              </a:ext>
            </a:extLst>
          </p:cNvPr>
          <p:cNvSpPr/>
          <p:nvPr/>
        </p:nvSpPr>
        <p:spPr>
          <a:xfrm>
            <a:off x="793790" y="3408937"/>
            <a:ext cx="308705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Initial Database Import</a:t>
            </a:r>
            <a:endParaRPr lang="en-US" sz="23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F6DBCECC-83CD-8DC7-E6B7-3C62498F8D95}"/>
              </a:ext>
            </a:extLst>
          </p:cNvPr>
          <p:cNvSpPr/>
          <p:nvPr/>
        </p:nvSpPr>
        <p:spPr>
          <a:xfrm>
            <a:off x="793790" y="391709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Bulk-create student accounts efficiently via CSV upload. Import hundreds of student records in seconds.</a:t>
            </a:r>
            <a:endParaRPr lang="en-US" sz="175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1A66B86-63BC-46F1-81B2-F89E92B387D5}"/>
              </a:ext>
            </a:extLst>
          </p:cNvPr>
          <p:cNvSpPr/>
          <p:nvPr/>
        </p:nvSpPr>
        <p:spPr>
          <a:xfrm>
            <a:off x="7428548" y="287958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F9251B35-0AF5-E8E2-4074-1EC00F1CB49C}"/>
              </a:ext>
            </a:extLst>
          </p:cNvPr>
          <p:cNvSpPr/>
          <p:nvPr/>
        </p:nvSpPr>
        <p:spPr>
          <a:xfrm>
            <a:off x="7428548" y="3234629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F99CB7F-DAF3-EA39-E301-F460977E20B0}"/>
              </a:ext>
            </a:extLst>
          </p:cNvPr>
          <p:cNvSpPr/>
          <p:nvPr/>
        </p:nvSpPr>
        <p:spPr>
          <a:xfrm>
            <a:off x="7428548" y="340893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Account Initialization</a:t>
            </a:r>
            <a:endParaRPr lang="en-US" sz="23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877BCDA1-B2DA-C0AB-38DB-28A64F44759C}"/>
              </a:ext>
            </a:extLst>
          </p:cNvPr>
          <p:cNvSpPr/>
          <p:nvPr/>
        </p:nvSpPr>
        <p:spPr>
          <a:xfrm>
            <a:off x="7428548" y="3917096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automatically generates secure credentials and sends personalized welcome emails to each student.</a:t>
            </a:r>
            <a:endParaRPr lang="en-US" sz="17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ACB83BC-5E26-E0D5-FD0A-951DF4DBF715}"/>
              </a:ext>
            </a:extLst>
          </p:cNvPr>
          <p:cNvSpPr/>
          <p:nvPr/>
        </p:nvSpPr>
        <p:spPr>
          <a:xfrm>
            <a:off x="793790" y="5039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520005B8-9515-2269-2AF0-507D104E752B}"/>
              </a:ext>
            </a:extLst>
          </p:cNvPr>
          <p:cNvSpPr/>
          <p:nvPr/>
        </p:nvSpPr>
        <p:spPr>
          <a:xfrm>
            <a:off x="793790" y="5394780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344BBA5-CF41-2992-7F45-966D9460A4DD}"/>
              </a:ext>
            </a:extLst>
          </p:cNvPr>
          <p:cNvSpPr/>
          <p:nvPr/>
        </p:nvSpPr>
        <p:spPr>
          <a:xfrm>
            <a:off x="793790" y="55690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Profile Data Control</a:t>
            </a:r>
            <a:endParaRPr lang="en-US" sz="23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837CC52-930C-816C-94A8-9D27077B2A42}"/>
              </a:ext>
            </a:extLst>
          </p:cNvPr>
          <p:cNvSpPr/>
          <p:nvPr/>
        </p:nvSpPr>
        <p:spPr>
          <a:xfrm>
            <a:off x="793790" y="6077247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can edit their profile once to ensure accuracy. After initial setup, all changes require admin approval to maintain data integrity.</a:t>
            </a:r>
            <a:endParaRPr lang="en-US" sz="175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CAFB7E6-38F6-1E97-7138-3D76829639E6}"/>
              </a:ext>
            </a:extLst>
          </p:cNvPr>
          <p:cNvSpPr/>
          <p:nvPr/>
        </p:nvSpPr>
        <p:spPr>
          <a:xfrm>
            <a:off x="7428548" y="5039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0AC1E5B1-D4BC-4864-8967-5D16B3FF3B3E}"/>
              </a:ext>
            </a:extLst>
          </p:cNvPr>
          <p:cNvSpPr/>
          <p:nvPr/>
        </p:nvSpPr>
        <p:spPr>
          <a:xfrm>
            <a:off x="7428548" y="5394780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B99C5B40-4F27-A397-943C-4A3AE8B06965}"/>
              </a:ext>
            </a:extLst>
          </p:cNvPr>
          <p:cNvSpPr/>
          <p:nvPr/>
        </p:nvSpPr>
        <p:spPr>
          <a:xfrm>
            <a:off x="7428548" y="5569088"/>
            <a:ext cx="304502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Admin Override Access</a:t>
            </a:r>
            <a:endParaRPr lang="en-US" sz="23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0686B9DC-7005-121E-4C01-81A6683DC179}"/>
              </a:ext>
            </a:extLst>
          </p:cNvPr>
          <p:cNvSpPr/>
          <p:nvPr/>
        </p:nvSpPr>
        <p:spPr>
          <a:xfrm>
            <a:off x="7428548" y="6077247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Administrators maintain full access to directly modify any student profile when necessary, ensuring complete control.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94961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7523EB-DCA6-7BE2-47E6-086B7428C11C}"/>
              </a:ext>
            </a:extLst>
          </p:cNvPr>
          <p:cNvSpPr/>
          <p:nvPr/>
        </p:nvSpPr>
        <p:spPr>
          <a:xfrm>
            <a:off x="793790" y="1147107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2: Job Posting &amp; Google Form Automation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37BF72-FC2A-63C0-F9C1-6272177DCF03}"/>
              </a:ext>
            </a:extLst>
          </p:cNvPr>
          <p:cNvSpPr/>
          <p:nvPr/>
        </p:nvSpPr>
        <p:spPr>
          <a:xfrm>
            <a:off x="793790" y="30892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Streamlines the creation of new job opportunities while ensuring only qualified students see relevant postings.</a:t>
            </a:r>
            <a:endParaRPr lang="en-US" sz="175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EB9DBE60-5E49-DA25-D0C9-5D1B2BB7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707308"/>
            <a:ext cx="1134070" cy="168759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3B1874A7-9052-D1CA-61FF-462B0D643E08}"/>
              </a:ext>
            </a:extLst>
          </p:cNvPr>
          <p:cNvSpPr/>
          <p:nvPr/>
        </p:nvSpPr>
        <p:spPr>
          <a:xfrm>
            <a:off x="2154674" y="39341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Creation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C1F40A-CEB3-4198-3CCA-3994AB39265C}"/>
              </a:ext>
            </a:extLst>
          </p:cNvPr>
          <p:cNvSpPr/>
          <p:nvPr/>
        </p:nvSpPr>
        <p:spPr>
          <a:xfrm>
            <a:off x="2154674" y="4442281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defines job descriptions, eligibility criteria including CGPA thresholds, backlog limits, and branch requirements.</a:t>
            </a:r>
            <a:endParaRPr lang="en-US" sz="1750" dirty="0"/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DAA980B9-67AB-227C-F77C-0BB0B8758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94900"/>
            <a:ext cx="1134070" cy="1687592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A445C0B9-3D43-1642-E443-3A3949B83A91}"/>
              </a:ext>
            </a:extLst>
          </p:cNvPr>
          <p:cNvSpPr/>
          <p:nvPr/>
        </p:nvSpPr>
        <p:spPr>
          <a:xfrm>
            <a:off x="2154674" y="5621714"/>
            <a:ext cx="327529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Google Form Integration</a:t>
            </a:r>
            <a:endParaRPr lang="en-US" sz="2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222D428-8924-DE1A-7775-ADC7897560BB}"/>
              </a:ext>
            </a:extLst>
          </p:cNvPr>
          <p:cNvSpPr/>
          <p:nvPr/>
        </p:nvSpPr>
        <p:spPr>
          <a:xfrm>
            <a:off x="2154674" y="6129873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links application forms. The system automatically displays opportunities only to eligible students based on their profiles.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27926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C37F21-B3BF-FD55-12D3-7B3C1C336ABC}"/>
              </a:ext>
            </a:extLst>
          </p:cNvPr>
          <p:cNvSpPr/>
          <p:nvPr/>
        </p:nvSpPr>
        <p:spPr>
          <a:xfrm>
            <a:off x="793790" y="1410473"/>
            <a:ext cx="764202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Module 3: Master Data Sheet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E6EE90-8FAD-6C74-6899-A955585F1C4E}"/>
              </a:ext>
            </a:extLst>
          </p:cNvPr>
          <p:cNvSpPr/>
          <p:nvPr/>
        </p:nvSpPr>
        <p:spPr>
          <a:xfrm>
            <a:off x="793790" y="26083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primary reporting and tracking feature, powered by the Google Sheets API, provides unprecedented visibility into the placement process.</a:t>
            </a:r>
            <a:endParaRPr lang="en-US" sz="175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EF516E3A-5B1D-1BDF-273C-5883FB14A957}"/>
              </a:ext>
            </a:extLst>
          </p:cNvPr>
          <p:cNvSpPr/>
          <p:nvPr/>
        </p:nvSpPr>
        <p:spPr>
          <a:xfrm>
            <a:off x="793790" y="38989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A54568F-7DE0-2C02-1086-0C322D3B4ED2}"/>
              </a:ext>
            </a:extLst>
          </p:cNvPr>
          <p:cNvSpPr/>
          <p:nvPr/>
        </p:nvSpPr>
        <p:spPr>
          <a:xfrm>
            <a:off x="2551688" y="358931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EF3AA42-DF44-59B0-E9C5-F989D83E7D2B}"/>
              </a:ext>
            </a:extLst>
          </p:cNvPr>
          <p:cNvSpPr/>
          <p:nvPr/>
        </p:nvSpPr>
        <p:spPr>
          <a:xfrm>
            <a:off x="2755761" y="37594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68EA3B1-0A5F-8C90-CA90-B2281FDEC463}"/>
              </a:ext>
            </a:extLst>
          </p:cNvPr>
          <p:cNvSpPr/>
          <p:nvPr/>
        </p:nvSpPr>
        <p:spPr>
          <a:xfrm>
            <a:off x="1051084" y="4496454"/>
            <a:ext cx="32863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Sheet Generation</a:t>
            </a:r>
            <a:endParaRPr lang="en-US" sz="2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202A0F9-7C6F-1A72-BFCF-E57E19B39038}"/>
              </a:ext>
            </a:extLst>
          </p:cNvPr>
          <p:cNvSpPr/>
          <p:nvPr/>
        </p:nvSpPr>
        <p:spPr>
          <a:xfrm>
            <a:off x="1051084" y="500461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automatically generates a comprehensive "Master Placement Data Sheet" that serves as the single source of truth.</a:t>
            </a:r>
            <a:endParaRPr lang="en-US" sz="175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50E944A-4A7C-22E8-EC8F-E0C9CC2E9BAD}"/>
              </a:ext>
            </a:extLst>
          </p:cNvPr>
          <p:cNvSpPr/>
          <p:nvPr/>
        </p:nvSpPr>
        <p:spPr>
          <a:xfrm>
            <a:off x="5216962" y="38989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9A38CF5-5841-421F-1D56-3192913A3207}"/>
              </a:ext>
            </a:extLst>
          </p:cNvPr>
          <p:cNvSpPr/>
          <p:nvPr/>
        </p:nvSpPr>
        <p:spPr>
          <a:xfrm>
            <a:off x="6974860" y="358931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F90E41DD-1953-DF8C-E425-C0641269B624}"/>
              </a:ext>
            </a:extLst>
          </p:cNvPr>
          <p:cNvSpPr/>
          <p:nvPr/>
        </p:nvSpPr>
        <p:spPr>
          <a:xfrm>
            <a:off x="7178933" y="37594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7C3B90E-15C8-EA97-D35F-662B46D61E9A}"/>
              </a:ext>
            </a:extLst>
          </p:cNvPr>
          <p:cNvSpPr/>
          <p:nvPr/>
        </p:nvSpPr>
        <p:spPr>
          <a:xfrm>
            <a:off x="5474256" y="44964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2D Matrix Structure</a:t>
            </a:r>
            <a:endParaRPr lang="en-US" sz="23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358BA1C-242A-F6C4-84D3-7BBFCF47DDEA}"/>
              </a:ext>
            </a:extLst>
          </p:cNvPr>
          <p:cNvSpPr/>
          <p:nvPr/>
        </p:nvSpPr>
        <p:spPr>
          <a:xfrm>
            <a:off x="5474256" y="500461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represent students (Roll Number/Name), columns represent companies/jobs, and cells auto-update with "Applied" status.</a:t>
            </a:r>
            <a:endParaRPr lang="en-US" sz="175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71E44EC7-78BA-6034-C6EF-29E2F0618FDC}"/>
              </a:ext>
            </a:extLst>
          </p:cNvPr>
          <p:cNvSpPr/>
          <p:nvPr/>
        </p:nvSpPr>
        <p:spPr>
          <a:xfrm>
            <a:off x="9640133" y="3898998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5812C3B-53BF-8332-AC29-94E332D3795B}"/>
              </a:ext>
            </a:extLst>
          </p:cNvPr>
          <p:cNvSpPr/>
          <p:nvPr/>
        </p:nvSpPr>
        <p:spPr>
          <a:xfrm>
            <a:off x="11398032" y="358931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A69DC141-57A4-F7A9-528A-7A7B1B1AB4CE}"/>
              </a:ext>
            </a:extLst>
          </p:cNvPr>
          <p:cNvSpPr/>
          <p:nvPr/>
        </p:nvSpPr>
        <p:spPr>
          <a:xfrm>
            <a:off x="11602105" y="37594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A0A6FDC8-23D9-A14B-224F-C72FF8D000F4}"/>
              </a:ext>
            </a:extLst>
          </p:cNvPr>
          <p:cNvSpPr/>
          <p:nvPr/>
        </p:nvSpPr>
        <p:spPr>
          <a:xfrm>
            <a:off x="9897427" y="4496454"/>
            <a:ext cx="331100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Data Logging</a:t>
            </a:r>
            <a:endParaRPr lang="en-US" sz="23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B5F07654-671D-5356-7EB1-A6C9E6D9F59C}"/>
              </a:ext>
            </a:extLst>
          </p:cNvPr>
          <p:cNvSpPr/>
          <p:nvPr/>
        </p:nvSpPr>
        <p:spPr>
          <a:xfrm>
            <a:off x="9897427" y="5004613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a complete, at-a-glance view of all applications for the entire batch with zero manual data entry.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78189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8003E8-7E02-5C62-740C-9BCA5C8D83BF}"/>
              </a:ext>
            </a:extLst>
          </p:cNvPr>
          <p:cNvSpPr/>
          <p:nvPr/>
        </p:nvSpPr>
        <p:spPr>
          <a:xfrm>
            <a:off x="688896" y="805875"/>
            <a:ext cx="5785366" cy="649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Inputs &amp; Queries</a:t>
            </a:r>
            <a:endParaRPr lang="en-US" sz="4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3BDA3E-749A-4B4C-30E6-1E07F1A0C8EF}"/>
              </a:ext>
            </a:extLst>
          </p:cNvPr>
          <p:cNvSpPr/>
          <p:nvPr/>
        </p:nvSpPr>
        <p:spPr>
          <a:xfrm>
            <a:off x="688896" y="1950065"/>
            <a:ext cx="311753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Inputs</a:t>
            </a:r>
            <a:endParaRPr lang="en-US" sz="2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6C9DD6-6BC6-9E98-7B24-A614CBBA48EE}"/>
              </a:ext>
            </a:extLst>
          </p:cNvPr>
          <p:cNvSpPr/>
          <p:nvPr/>
        </p:nvSpPr>
        <p:spPr>
          <a:xfrm>
            <a:off x="688896" y="2562285"/>
            <a:ext cx="6381036" cy="128075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34123FC-F70E-EB3F-B78A-52BEB802953B}"/>
              </a:ext>
            </a:extLst>
          </p:cNvPr>
          <p:cNvSpPr/>
          <p:nvPr/>
        </p:nvSpPr>
        <p:spPr>
          <a:xfrm>
            <a:off x="909638" y="2783026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Data (CSV)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A52C6A-4577-CB9F-307A-32FE11B96D07}"/>
              </a:ext>
            </a:extLst>
          </p:cNvPr>
          <p:cNvSpPr/>
          <p:nvPr/>
        </p:nvSpPr>
        <p:spPr>
          <a:xfrm>
            <a:off x="909638" y="3305592"/>
            <a:ext cx="5939552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Bulk upload of student records with profile information</a:t>
            </a:r>
            <a:endParaRPr lang="en-US" sz="15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FBF34E-2E20-CAB6-515C-67BEEBC96781}"/>
              </a:ext>
            </a:extLst>
          </p:cNvPr>
          <p:cNvSpPr/>
          <p:nvPr/>
        </p:nvSpPr>
        <p:spPr>
          <a:xfrm>
            <a:off x="688896" y="4040922"/>
            <a:ext cx="6381036" cy="128075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92EED5-D1D7-7C48-A0A9-8BC31EAFB819}"/>
              </a:ext>
            </a:extLst>
          </p:cNvPr>
          <p:cNvSpPr/>
          <p:nvPr/>
        </p:nvSpPr>
        <p:spPr>
          <a:xfrm>
            <a:off x="909638" y="4261664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 Data Edits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778FEA-E82A-68C0-ED27-7EF9BC7D0FB1}"/>
              </a:ext>
            </a:extLst>
          </p:cNvPr>
          <p:cNvSpPr/>
          <p:nvPr/>
        </p:nvSpPr>
        <p:spPr>
          <a:xfrm>
            <a:off x="909638" y="4784229"/>
            <a:ext cx="5939552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Admin-initiated profile updates and corrections</a:t>
            </a:r>
            <a:endParaRPr lang="en-US" sz="15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3DFDF3-3BBC-58AA-ECE4-03F61F28F158}"/>
              </a:ext>
            </a:extLst>
          </p:cNvPr>
          <p:cNvSpPr/>
          <p:nvPr/>
        </p:nvSpPr>
        <p:spPr>
          <a:xfrm>
            <a:off x="688896" y="5519559"/>
            <a:ext cx="6381036" cy="1280755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C6280E8-9FC0-852D-7B88-7D5C00451873}"/>
              </a:ext>
            </a:extLst>
          </p:cNvPr>
          <p:cNvSpPr/>
          <p:nvPr/>
        </p:nvSpPr>
        <p:spPr>
          <a:xfrm>
            <a:off x="909638" y="5740301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Posting Details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02CEFC-57A2-9AA1-3AEF-28170A020E4E}"/>
              </a:ext>
            </a:extLst>
          </p:cNvPr>
          <p:cNvSpPr/>
          <p:nvPr/>
        </p:nvSpPr>
        <p:spPr>
          <a:xfrm>
            <a:off x="909638" y="6262866"/>
            <a:ext cx="5939552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information, requirements, and application forms</a:t>
            </a:r>
            <a:endParaRPr lang="en-US" sz="1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7FA2EE3-F41C-9558-0EFF-581408217F38}"/>
              </a:ext>
            </a:extLst>
          </p:cNvPr>
          <p:cNvSpPr/>
          <p:nvPr/>
        </p:nvSpPr>
        <p:spPr>
          <a:xfrm>
            <a:off x="7560469" y="1950065"/>
            <a:ext cx="311753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Queries Handled</a:t>
            </a:r>
            <a:endParaRPr lang="en-US" sz="24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C74BCE-E395-77FC-02E9-B63A02E0CC16}"/>
              </a:ext>
            </a:extLst>
          </p:cNvPr>
          <p:cNvSpPr/>
          <p:nvPr/>
        </p:nvSpPr>
        <p:spPr>
          <a:xfrm>
            <a:off x="7560469" y="2667357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2FD60E-397C-BA6A-72CA-3583191185E2}"/>
              </a:ext>
            </a:extLst>
          </p:cNvPr>
          <p:cNvSpPr/>
          <p:nvPr/>
        </p:nvSpPr>
        <p:spPr>
          <a:xfrm>
            <a:off x="7857292" y="2562285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Advanced Filtering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FF25C0D-B23A-86C7-9AD1-DB8BBB902C8A}"/>
              </a:ext>
            </a:extLst>
          </p:cNvPr>
          <p:cNvSpPr/>
          <p:nvPr/>
        </p:nvSpPr>
        <p:spPr>
          <a:xfrm>
            <a:off x="7857292" y="3084850"/>
            <a:ext cx="6084213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students by branch, CGPA threshold, or backlog status for targeted job matching</a:t>
            </a:r>
            <a:endParaRPr lang="en-US" sz="15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6B7A160-10DC-B9A9-FC7D-2DE97CF7E9BD}"/>
              </a:ext>
            </a:extLst>
          </p:cNvPr>
          <p:cNvSpPr/>
          <p:nvPr/>
        </p:nvSpPr>
        <p:spPr>
          <a:xfrm>
            <a:off x="7560469" y="4219218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7A6FE5-B5CE-934A-996B-FA0E1317841B}"/>
              </a:ext>
            </a:extLst>
          </p:cNvPr>
          <p:cNvSpPr/>
          <p:nvPr/>
        </p:nvSpPr>
        <p:spPr>
          <a:xfrm>
            <a:off x="7857292" y="4114145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Lookup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924F76F-E99B-C2BF-5E65-719B7664C585}"/>
              </a:ext>
            </a:extLst>
          </p:cNvPr>
          <p:cNvSpPr/>
          <p:nvPr/>
        </p:nvSpPr>
        <p:spPr>
          <a:xfrm>
            <a:off x="7857292" y="4636711"/>
            <a:ext cx="60842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Quickly locate specific students to perform manual profile edits</a:t>
            </a:r>
            <a:endParaRPr lang="en-US" sz="15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0C612CC-E25A-7380-5612-F88635EF2E28}"/>
              </a:ext>
            </a:extLst>
          </p:cNvPr>
          <p:cNvSpPr/>
          <p:nvPr/>
        </p:nvSpPr>
        <p:spPr>
          <a:xfrm>
            <a:off x="7560469" y="5454372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5317778-2378-5E3A-04A0-1EA97F3120CD}"/>
              </a:ext>
            </a:extLst>
          </p:cNvPr>
          <p:cNvSpPr/>
          <p:nvPr/>
        </p:nvSpPr>
        <p:spPr>
          <a:xfrm>
            <a:off x="7857292" y="5349300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 Reports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65EA89-C445-299C-5AD2-5B60FA66D8AA}"/>
              </a:ext>
            </a:extLst>
          </p:cNvPr>
          <p:cNvSpPr/>
          <p:nvPr/>
        </p:nvSpPr>
        <p:spPr>
          <a:xfrm>
            <a:off x="7857292" y="5871865"/>
            <a:ext cx="60842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lists of all students who applied for specific job postings</a:t>
            </a:r>
            <a:endParaRPr lang="en-US" sz="15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4218363-39B5-1B87-08C4-8D1074C93D3F}"/>
              </a:ext>
            </a:extLst>
          </p:cNvPr>
          <p:cNvSpPr/>
          <p:nvPr/>
        </p:nvSpPr>
        <p:spPr>
          <a:xfrm>
            <a:off x="7560469" y="6689527"/>
            <a:ext cx="98941" cy="98941"/>
          </a:xfrm>
          <a:prstGeom prst="roundRect">
            <a:avLst>
              <a:gd name="adj" fmla="val 462094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EB6E9B-851F-AA3A-42FC-2F65A45A67BF}"/>
              </a:ext>
            </a:extLst>
          </p:cNvPr>
          <p:cNvSpPr/>
          <p:nvPr/>
        </p:nvSpPr>
        <p:spPr>
          <a:xfrm>
            <a:off x="7857292" y="6584454"/>
            <a:ext cx="259794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Data Retrieval</a:t>
            </a:r>
            <a:endParaRPr lang="en-US" sz="2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90E6A23-BCC7-0951-7F41-D5ED3152A008}"/>
              </a:ext>
            </a:extLst>
          </p:cNvPr>
          <p:cNvSpPr/>
          <p:nvPr/>
        </p:nvSpPr>
        <p:spPr>
          <a:xfrm>
            <a:off x="7857292" y="7107019"/>
            <a:ext cx="6084213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comprehensive data for the Master Placement Data Sheet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585165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CB9060-8953-7448-C0E0-FB3721865D8C}"/>
              </a:ext>
            </a:extLst>
          </p:cNvPr>
          <p:cNvSpPr/>
          <p:nvPr/>
        </p:nvSpPr>
        <p:spPr>
          <a:xfrm>
            <a:off x="793790" y="214508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Outputs</a:t>
            </a:r>
            <a:endParaRPr lang="en-US" sz="465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4ACC32A2-17BB-4231-9AB3-E99CCCF28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42977"/>
            <a:ext cx="3048000" cy="1828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BA83A42-1F5E-2C67-C031-CD8D4C58204A}"/>
              </a:ext>
            </a:extLst>
          </p:cNvPr>
          <p:cNvSpPr/>
          <p:nvPr/>
        </p:nvSpPr>
        <p:spPr>
          <a:xfrm>
            <a:off x="793790" y="3752671"/>
            <a:ext cx="304800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Profile Management Interface</a:t>
            </a:r>
            <a:endParaRPr lang="en-US" sz="2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A61F6EC-D166-4675-BCAB-013326AEB415}"/>
              </a:ext>
            </a:extLst>
          </p:cNvPr>
          <p:cNvSpPr/>
          <p:nvPr/>
        </p:nvSpPr>
        <p:spPr>
          <a:xfrm>
            <a:off x="793790" y="4632900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 search, filter, and edit capabilities for managing student records efficiently</a:t>
            </a:r>
            <a:endParaRPr lang="en-US" sz="175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B1F46D38-C680-AA1A-F893-76A2ACE18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342977"/>
            <a:ext cx="3048119" cy="18288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1DD96921-216E-0E73-F142-18CB93791988}"/>
              </a:ext>
            </a:extLst>
          </p:cNvPr>
          <p:cNvSpPr/>
          <p:nvPr/>
        </p:nvSpPr>
        <p:spPr>
          <a:xfrm>
            <a:off x="4125278" y="375267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Job Card Dashboard</a:t>
            </a:r>
            <a:endParaRPr lang="en-US" sz="2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750B516-4336-4C0A-7737-E0E27A82E806}"/>
              </a:ext>
            </a:extLst>
          </p:cNvPr>
          <p:cNvSpPr/>
          <p:nvPr/>
        </p:nvSpPr>
        <p:spPr>
          <a:xfrm>
            <a:off x="4125278" y="426083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display of active and archived job postings with quick access controls</a:t>
            </a:r>
            <a:endParaRPr lang="en-US" sz="1750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E8CC6A79-8D99-95FA-764A-165DA669E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342977"/>
            <a:ext cx="3048119" cy="18288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1E4D4935-7BF5-1B6B-FDA7-1EBEB701B176}"/>
              </a:ext>
            </a:extLst>
          </p:cNvPr>
          <p:cNvSpPr/>
          <p:nvPr/>
        </p:nvSpPr>
        <p:spPr>
          <a:xfrm>
            <a:off x="7456884" y="3752671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Automated Credential Emails</a:t>
            </a:r>
            <a:endParaRPr lang="en-US" sz="23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8ED5133-7D1B-7D9B-1375-CD257D9274BF}"/>
              </a:ext>
            </a:extLst>
          </p:cNvPr>
          <p:cNvSpPr/>
          <p:nvPr/>
        </p:nvSpPr>
        <p:spPr>
          <a:xfrm>
            <a:off x="7456884" y="463290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System-generated welcome messages with login credentials sent to students</a:t>
            </a:r>
            <a:endParaRPr lang="en-US" sz="1750" dirty="0"/>
          </a:p>
        </p:txBody>
      </p:sp>
      <p:pic>
        <p:nvPicPr>
          <p:cNvPr id="12" name="Image 3">
            <a:extLst>
              <a:ext uri="{FF2B5EF4-FFF2-40B4-BE49-F238E27FC236}">
                <a16:creationId xmlns:a16="http://schemas.microsoft.com/office/drawing/2014/main" id="{DC33B0C4-5263-427C-D4C6-452A146A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491" y="3342977"/>
            <a:ext cx="3048119" cy="18288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3F27811-5E84-BED2-37DA-7078DEC4B7C3}"/>
              </a:ext>
            </a:extLst>
          </p:cNvPr>
          <p:cNvSpPr/>
          <p:nvPr/>
        </p:nvSpPr>
        <p:spPr>
          <a:xfrm>
            <a:off x="10788491" y="3752671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Master Placement Data Sheet</a:t>
            </a:r>
            <a:endParaRPr lang="en-US" sz="23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E3E53E2-348E-F0CB-E807-EAB49EE5C615}"/>
              </a:ext>
            </a:extLst>
          </p:cNvPr>
          <p:cNvSpPr/>
          <p:nvPr/>
        </p:nvSpPr>
        <p:spPr>
          <a:xfrm>
            <a:off x="10788491" y="463290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Updating 2D matrix showing complete application tracking across all students and companies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109077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D801A6B7-20B3-6007-B4CC-BD3B5B6AE214}"/>
              </a:ext>
            </a:extLst>
          </p:cNvPr>
          <p:cNvSpPr/>
          <p:nvPr/>
        </p:nvSpPr>
        <p:spPr>
          <a:xfrm>
            <a:off x="561380" y="513457"/>
            <a:ext cx="5875615" cy="519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&amp; Performance Testing</a:t>
            </a:r>
            <a:endParaRPr lang="en-US" sz="3250" dirty="0"/>
          </a:p>
        </p:txBody>
      </p:sp>
      <p:sp>
        <p:nvSpPr>
          <p:cNvPr id="44" name="Text 1">
            <a:extLst>
              <a:ext uri="{FF2B5EF4-FFF2-40B4-BE49-F238E27FC236}">
                <a16:creationId xmlns:a16="http://schemas.microsoft.com/office/drawing/2014/main" id="{ADDF3ED9-7980-05E0-9E38-6F17C0272EB7}"/>
              </a:ext>
            </a:extLst>
          </p:cNvPr>
          <p:cNvSpPr/>
          <p:nvPr/>
        </p:nvSpPr>
        <p:spPr>
          <a:xfrm>
            <a:off x="561380" y="1428215"/>
            <a:ext cx="2492335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 Features</a:t>
            </a:r>
            <a:endParaRPr lang="en-US" sz="195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55260D0F-31FD-EF11-F9A0-BD3D9086BDBB}"/>
              </a:ext>
            </a:extLst>
          </p:cNvPr>
          <p:cNvSpPr/>
          <p:nvPr/>
        </p:nvSpPr>
        <p:spPr>
          <a:xfrm>
            <a:off x="561380" y="1917681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3">
            <a:extLst>
              <a:ext uri="{FF2B5EF4-FFF2-40B4-BE49-F238E27FC236}">
                <a16:creationId xmlns:a16="http://schemas.microsoft.com/office/drawing/2014/main" id="{C3381B91-7A3F-D399-4626-0D9F93A9EFD9}"/>
              </a:ext>
            </a:extLst>
          </p:cNvPr>
          <p:cNvSpPr/>
          <p:nvPr/>
        </p:nvSpPr>
        <p:spPr>
          <a:xfrm>
            <a:off x="538520" y="1917681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87CA52D1-99F8-7AA2-FC86-986C321D35C7}"/>
              </a:ext>
            </a:extLst>
          </p:cNvPr>
          <p:cNvSpPr/>
          <p:nvPr/>
        </p:nvSpPr>
        <p:spPr>
          <a:xfrm>
            <a:off x="811054" y="2098775"/>
            <a:ext cx="207692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JWT Tokens</a:t>
            </a:r>
            <a:endParaRPr lang="en-US" sz="1600" dirty="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EA761971-8838-1012-8D3B-127E966519AC}"/>
              </a:ext>
            </a:extLst>
          </p:cNvPr>
          <p:cNvSpPr/>
          <p:nvPr/>
        </p:nvSpPr>
        <p:spPr>
          <a:xfrm>
            <a:off x="811054" y="2516565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authentication with industry-standard JSON Web Tokens</a:t>
            </a:r>
            <a:endParaRPr lang="en-US" sz="120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5ADE0202-CBAB-171B-2E36-AD3DFB142686}"/>
              </a:ext>
            </a:extLst>
          </p:cNvPr>
          <p:cNvSpPr/>
          <p:nvPr/>
        </p:nvSpPr>
        <p:spPr>
          <a:xfrm>
            <a:off x="561380" y="3109020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7">
            <a:extLst>
              <a:ext uri="{FF2B5EF4-FFF2-40B4-BE49-F238E27FC236}">
                <a16:creationId xmlns:a16="http://schemas.microsoft.com/office/drawing/2014/main" id="{7DAF912B-B7A8-91FF-E85D-3521ED86D7A0}"/>
              </a:ext>
            </a:extLst>
          </p:cNvPr>
          <p:cNvSpPr/>
          <p:nvPr/>
        </p:nvSpPr>
        <p:spPr>
          <a:xfrm>
            <a:off x="538520" y="3109020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C9A2ABFC-DF98-B082-1A03-4460EAA58378}"/>
              </a:ext>
            </a:extLst>
          </p:cNvPr>
          <p:cNvSpPr/>
          <p:nvPr/>
        </p:nvSpPr>
        <p:spPr>
          <a:xfrm>
            <a:off x="811054" y="3290114"/>
            <a:ext cx="2335411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Bcrypt Password Hashing</a:t>
            </a:r>
            <a:endParaRPr lang="en-US" sz="1600" dirty="0"/>
          </a:p>
        </p:txBody>
      </p:sp>
      <p:sp>
        <p:nvSpPr>
          <p:cNvPr id="52" name="Text 9">
            <a:extLst>
              <a:ext uri="{FF2B5EF4-FFF2-40B4-BE49-F238E27FC236}">
                <a16:creationId xmlns:a16="http://schemas.microsoft.com/office/drawing/2014/main" id="{F4F8C87B-6FE9-522A-CB16-26AAA81E83B7}"/>
              </a:ext>
            </a:extLst>
          </p:cNvPr>
          <p:cNvSpPr/>
          <p:nvPr/>
        </p:nvSpPr>
        <p:spPr>
          <a:xfrm>
            <a:off x="811054" y="3707904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Military-grade encryption protects all user credentials</a:t>
            </a:r>
            <a:endParaRPr lang="en-US" sz="1200" dirty="0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4B263C22-9A99-386F-3C2F-2FE77EA94FEA}"/>
              </a:ext>
            </a:extLst>
          </p:cNvPr>
          <p:cNvSpPr/>
          <p:nvPr/>
        </p:nvSpPr>
        <p:spPr>
          <a:xfrm>
            <a:off x="561380" y="4300359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C2FAADB4-470E-C261-B2B4-E5456FB3CB33}"/>
              </a:ext>
            </a:extLst>
          </p:cNvPr>
          <p:cNvSpPr/>
          <p:nvPr/>
        </p:nvSpPr>
        <p:spPr>
          <a:xfrm>
            <a:off x="538520" y="4300359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3E277746-8634-219A-105C-AAB5A89428C3}"/>
              </a:ext>
            </a:extLst>
          </p:cNvPr>
          <p:cNvSpPr/>
          <p:nvPr/>
        </p:nvSpPr>
        <p:spPr>
          <a:xfrm>
            <a:off x="811054" y="4481453"/>
            <a:ext cx="244316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A0C2522F-84ED-0D19-C8B3-7AB6B15DCF20}"/>
              </a:ext>
            </a:extLst>
          </p:cNvPr>
          <p:cNvSpPr/>
          <p:nvPr/>
        </p:nvSpPr>
        <p:spPr>
          <a:xfrm>
            <a:off x="811054" y="4899244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RBAC ensures users only access appropriate system features</a:t>
            </a:r>
            <a:endParaRPr lang="en-US" sz="120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932BBD38-72BC-0765-4989-AF8F0FFCD76E}"/>
              </a:ext>
            </a:extLst>
          </p:cNvPr>
          <p:cNvSpPr/>
          <p:nvPr/>
        </p:nvSpPr>
        <p:spPr>
          <a:xfrm>
            <a:off x="561380" y="5491699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15">
            <a:extLst>
              <a:ext uri="{FF2B5EF4-FFF2-40B4-BE49-F238E27FC236}">
                <a16:creationId xmlns:a16="http://schemas.microsoft.com/office/drawing/2014/main" id="{6CF6C706-60FF-53E8-4DFB-52C75303E93B}"/>
              </a:ext>
            </a:extLst>
          </p:cNvPr>
          <p:cNvSpPr/>
          <p:nvPr/>
        </p:nvSpPr>
        <p:spPr>
          <a:xfrm>
            <a:off x="538520" y="5491699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76DB8FE1-37CB-64B5-E647-CAE34956970B}"/>
              </a:ext>
            </a:extLst>
          </p:cNvPr>
          <p:cNvSpPr/>
          <p:nvPr/>
        </p:nvSpPr>
        <p:spPr>
          <a:xfrm>
            <a:off x="811054" y="5672793"/>
            <a:ext cx="2180153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HTTPS Communication</a:t>
            </a:r>
            <a:endParaRPr lang="en-US" sz="160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B67611BC-706C-F863-E044-D714AE8FEC9F}"/>
              </a:ext>
            </a:extLst>
          </p:cNvPr>
          <p:cNvSpPr/>
          <p:nvPr/>
        </p:nvSpPr>
        <p:spPr>
          <a:xfrm>
            <a:off x="811054" y="6090583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data transmission encrypted end-to-end</a:t>
            </a:r>
            <a:endParaRPr lang="en-US" sz="1200" dirty="0"/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8A8CADFC-1ED8-1315-8F36-45CD9387646A}"/>
              </a:ext>
            </a:extLst>
          </p:cNvPr>
          <p:cNvSpPr/>
          <p:nvPr/>
        </p:nvSpPr>
        <p:spPr>
          <a:xfrm>
            <a:off x="561380" y="6683038"/>
            <a:ext cx="7263884" cy="1033105"/>
          </a:xfrm>
          <a:prstGeom prst="roundRect">
            <a:avLst>
              <a:gd name="adj" fmla="val 106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CAE3F128-4DAB-2570-9FE6-272F2F2D0C81}"/>
              </a:ext>
            </a:extLst>
          </p:cNvPr>
          <p:cNvSpPr/>
          <p:nvPr/>
        </p:nvSpPr>
        <p:spPr>
          <a:xfrm>
            <a:off x="538520" y="6683038"/>
            <a:ext cx="91440" cy="1033105"/>
          </a:xfrm>
          <a:prstGeom prst="roundRect">
            <a:avLst>
              <a:gd name="adj" fmla="val 2595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4176211A-B60D-30C1-CC13-44571220516C}"/>
              </a:ext>
            </a:extLst>
          </p:cNvPr>
          <p:cNvSpPr/>
          <p:nvPr/>
        </p:nvSpPr>
        <p:spPr>
          <a:xfrm>
            <a:off x="811054" y="6864132"/>
            <a:ext cx="207692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Sanitization</a:t>
            </a:r>
            <a:endParaRPr lang="en-US" sz="160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8584E820-A8A8-3AE1-778D-9C7785903CB0}"/>
              </a:ext>
            </a:extLst>
          </p:cNvPr>
          <p:cNvSpPr/>
          <p:nvPr/>
        </p:nvSpPr>
        <p:spPr>
          <a:xfrm>
            <a:off x="811054" y="7281922"/>
            <a:ext cx="683311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Protection against SQL injection and XSS attacks</a:t>
            </a:r>
            <a:endParaRPr lang="en-US" sz="120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D0536532-EBA9-618C-6AD9-22287F472E07}"/>
              </a:ext>
            </a:extLst>
          </p:cNvPr>
          <p:cNvSpPr/>
          <p:nvPr/>
        </p:nvSpPr>
        <p:spPr>
          <a:xfrm>
            <a:off x="8218884" y="1428215"/>
            <a:ext cx="2492335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Testing Results</a:t>
            </a:r>
            <a:endParaRPr lang="en-US" sz="195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3B375E66-34C9-16F6-3059-91121B5BDC44}"/>
              </a:ext>
            </a:extLst>
          </p:cNvPr>
          <p:cNvSpPr/>
          <p:nvPr/>
        </p:nvSpPr>
        <p:spPr>
          <a:xfrm>
            <a:off x="8218884" y="1996738"/>
            <a:ext cx="5872996" cy="522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30</a:t>
            </a:r>
            <a:endParaRPr lang="en-US" sz="4100" dirty="0"/>
          </a:p>
        </p:txBody>
      </p:sp>
      <p:sp>
        <p:nvSpPr>
          <p:cNvPr id="67" name="Text 24">
            <a:extLst>
              <a:ext uri="{FF2B5EF4-FFF2-40B4-BE49-F238E27FC236}">
                <a16:creationId xmlns:a16="http://schemas.microsoft.com/office/drawing/2014/main" id="{637C55E1-1717-7993-B676-F1017A40F3AB}"/>
              </a:ext>
            </a:extLst>
          </p:cNvPr>
          <p:cNvSpPr/>
          <p:nvPr/>
        </p:nvSpPr>
        <p:spPr>
          <a:xfrm>
            <a:off x="10116860" y="2716590"/>
            <a:ext cx="207692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Testers</a:t>
            </a:r>
            <a:endParaRPr lang="en-US" sz="1600" dirty="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CC500A06-F9F2-C3BD-E744-B5CFD806273E}"/>
              </a:ext>
            </a:extLst>
          </p:cNvPr>
          <p:cNvSpPr/>
          <p:nvPr/>
        </p:nvSpPr>
        <p:spPr>
          <a:xfrm>
            <a:off x="8218884" y="3134380"/>
            <a:ext cx="5872996" cy="253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validation with diverse user group</a:t>
            </a:r>
            <a:endParaRPr lang="en-US" sz="1200" dirty="0"/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25C2B806-39B3-AA74-C0E2-C8EB2654FD06}"/>
              </a:ext>
            </a:extLst>
          </p:cNvPr>
          <p:cNvSpPr/>
          <p:nvPr/>
        </p:nvSpPr>
        <p:spPr>
          <a:xfrm>
            <a:off x="8456176" y="3565506"/>
            <a:ext cx="5635704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"Interface is smooth, intuitive, and clear. Navigation feels natural and everything works as expected."</a:t>
            </a:r>
            <a:endParaRPr lang="en-US" sz="1200" dirty="0"/>
          </a:p>
        </p:txBody>
      </p:sp>
      <p:sp>
        <p:nvSpPr>
          <p:cNvPr id="70" name="Shape 27">
            <a:extLst>
              <a:ext uri="{FF2B5EF4-FFF2-40B4-BE49-F238E27FC236}">
                <a16:creationId xmlns:a16="http://schemas.microsoft.com/office/drawing/2014/main" id="{8C7EDEC3-2707-BD01-617A-2E40D8D11319}"/>
              </a:ext>
            </a:extLst>
          </p:cNvPr>
          <p:cNvSpPr/>
          <p:nvPr/>
        </p:nvSpPr>
        <p:spPr>
          <a:xfrm>
            <a:off x="8218884" y="3565506"/>
            <a:ext cx="22860" cy="506254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8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C63C161-224A-08A9-3669-58A8AA449CE1}"/>
              </a:ext>
            </a:extLst>
          </p:cNvPr>
          <p:cNvSpPr/>
          <p:nvPr/>
        </p:nvSpPr>
        <p:spPr>
          <a:xfrm>
            <a:off x="793790" y="147512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Stress Test Results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9DAFC4-718B-B01F-E714-C22F4FBA02CF}"/>
              </a:ext>
            </a:extLst>
          </p:cNvPr>
          <p:cNvSpPr/>
          <p:nvPr/>
        </p:nvSpPr>
        <p:spPr>
          <a:xfrm>
            <a:off x="793790" y="2310110"/>
            <a:ext cx="85388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Validation of system performance under heavy load using Locust</a:t>
            </a:r>
            <a:endParaRPr lang="en-US" sz="2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A0BA6D-D745-784C-B0CD-853CB996F5AB}"/>
              </a:ext>
            </a:extLst>
          </p:cNvPr>
          <p:cNvSpPr/>
          <p:nvPr/>
        </p:nvSpPr>
        <p:spPr>
          <a:xfrm>
            <a:off x="793790" y="313568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500</a:t>
            </a:r>
            <a:endParaRPr lang="en-US" sz="5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92C864-04AB-1AE6-465C-4F71268DCC87}"/>
              </a:ext>
            </a:extLst>
          </p:cNvPr>
          <p:cNvSpPr/>
          <p:nvPr/>
        </p:nvSpPr>
        <p:spPr>
          <a:xfrm>
            <a:off x="829270" y="41674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Concurrent Users</a:t>
            </a:r>
            <a:endParaRPr lang="en-US" sz="2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8CE3A9-89FC-E6A3-6657-4BCEBFB5A9F6}"/>
              </a:ext>
            </a:extLst>
          </p:cNvPr>
          <p:cNvSpPr/>
          <p:nvPr/>
        </p:nvSpPr>
        <p:spPr>
          <a:xfrm>
            <a:off x="793790" y="4675643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Simulated peak load conditions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27CED8-FE3C-9DCE-55EF-7710769B9703}"/>
              </a:ext>
            </a:extLst>
          </p:cNvPr>
          <p:cNvSpPr/>
          <p:nvPr/>
        </p:nvSpPr>
        <p:spPr>
          <a:xfrm>
            <a:off x="4125278" y="31356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183.6</a:t>
            </a:r>
            <a:endParaRPr lang="en-US" sz="58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66B231-DB50-EB3B-28F5-1C5D17902157}"/>
              </a:ext>
            </a:extLst>
          </p:cNvPr>
          <p:cNvSpPr/>
          <p:nvPr/>
        </p:nvSpPr>
        <p:spPr>
          <a:xfrm>
            <a:off x="4160758" y="41674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Requests Per Second</a:t>
            </a:r>
            <a:endParaRPr lang="en-US" sz="2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DB2195E-2AE7-4228-89E3-676B92618E29}"/>
              </a:ext>
            </a:extLst>
          </p:cNvPr>
          <p:cNvSpPr/>
          <p:nvPr/>
        </p:nvSpPr>
        <p:spPr>
          <a:xfrm>
            <a:off x="4125278" y="467564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RPS sustained throughout test</a:t>
            </a:r>
            <a:endParaRPr lang="en-US" sz="1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51F18B-0379-46C0-0743-9524ADC9515F}"/>
              </a:ext>
            </a:extLst>
          </p:cNvPr>
          <p:cNvSpPr/>
          <p:nvPr/>
        </p:nvSpPr>
        <p:spPr>
          <a:xfrm>
            <a:off x="7456884" y="31356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1%</a:t>
            </a:r>
            <a:endParaRPr lang="en-US" sz="5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8DA5F9-AF99-9266-82F7-FA62249A333B}"/>
              </a:ext>
            </a:extLst>
          </p:cNvPr>
          <p:cNvSpPr/>
          <p:nvPr/>
        </p:nvSpPr>
        <p:spPr>
          <a:xfrm>
            <a:off x="7492365" y="416748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Failure Rate</a:t>
            </a:r>
            <a:endParaRPr lang="en-US" sz="2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937EC7B-EDCC-BAE3-C48C-DB9F422DC20B}"/>
              </a:ext>
            </a:extLst>
          </p:cNvPr>
          <p:cNvSpPr/>
          <p:nvPr/>
        </p:nvSpPr>
        <p:spPr>
          <a:xfrm>
            <a:off x="7456884" y="467564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Exceptional reliability under stress</a:t>
            </a:r>
            <a:endParaRPr lang="en-US" sz="1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CA02069-EFBF-BE2A-76E2-EC4ECD7069AF}"/>
              </a:ext>
            </a:extLst>
          </p:cNvPr>
          <p:cNvSpPr/>
          <p:nvPr/>
        </p:nvSpPr>
        <p:spPr>
          <a:xfrm>
            <a:off x="10788491" y="313568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140ms</a:t>
            </a:r>
            <a:endParaRPr lang="en-US" sz="58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CD6702C-FD4A-C586-7408-589AD26D00BF}"/>
              </a:ext>
            </a:extLst>
          </p:cNvPr>
          <p:cNvSpPr/>
          <p:nvPr/>
        </p:nvSpPr>
        <p:spPr>
          <a:xfrm>
            <a:off x="10788491" y="4167485"/>
            <a:ext cx="3048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Median Response Time</a:t>
            </a:r>
            <a:endParaRPr lang="en-US" sz="2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1BFAD83-17FB-612E-08DE-C942A4E5E703}"/>
              </a:ext>
            </a:extLst>
          </p:cNvPr>
          <p:cNvSpPr/>
          <p:nvPr/>
        </p:nvSpPr>
        <p:spPr>
          <a:xfrm>
            <a:off x="10788491" y="504771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Lightning-fast user experience</a:t>
            </a:r>
            <a:endParaRPr lang="en-US" sz="17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5B5F71F-F4EB-3FF7-3A85-5E57663D2DEC}"/>
              </a:ext>
            </a:extLst>
          </p:cNvPr>
          <p:cNvSpPr/>
          <p:nvPr/>
        </p:nvSpPr>
        <p:spPr>
          <a:xfrm>
            <a:off x="793790" y="60286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results demonstrate that the system can comfortably handle large-scale deployment across multiple departments and campuses simultaneously.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821134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470FCE-2073-FCA7-17BE-EB654F6B66EC}"/>
              </a:ext>
            </a:extLst>
          </p:cNvPr>
          <p:cNvSpPr/>
          <p:nvPr/>
        </p:nvSpPr>
        <p:spPr>
          <a:xfrm>
            <a:off x="793790" y="166854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Stakeholder Benefits</a:t>
            </a:r>
            <a:endParaRPr lang="en-US" sz="46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877C2D-98F2-CB07-9396-9AC9BB4C2976}"/>
              </a:ext>
            </a:extLst>
          </p:cNvPr>
          <p:cNvSpPr/>
          <p:nvPr/>
        </p:nvSpPr>
        <p:spPr>
          <a:xfrm>
            <a:off x="822127" y="2855119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D387FC12-A040-33E8-009F-4EA633C5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74" y="3029069"/>
            <a:ext cx="283488" cy="22681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84AE626-E9AA-1FDD-3B8E-76BFDD175456}"/>
              </a:ext>
            </a:extLst>
          </p:cNvPr>
          <p:cNvSpPr/>
          <p:nvPr/>
        </p:nvSpPr>
        <p:spPr>
          <a:xfrm>
            <a:off x="793790" y="3716893"/>
            <a:ext cx="31934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Placement Coordinators</a:t>
            </a:r>
            <a:endParaRPr lang="en-US" sz="23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D72E2ED-9F0C-404E-DAD7-55C12BEED02D}"/>
              </a:ext>
            </a:extLst>
          </p:cNvPr>
          <p:cNvSpPr/>
          <p:nvPr/>
        </p:nvSpPr>
        <p:spPr>
          <a:xfrm>
            <a:off x="793790" y="42250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Eliminates manual eligibility verification saving hours daily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9A0829-E315-0453-FAF1-1180F2A8FE19}"/>
              </a:ext>
            </a:extLst>
          </p:cNvPr>
          <p:cNvSpPr/>
          <p:nvPr/>
        </p:nvSpPr>
        <p:spPr>
          <a:xfrm>
            <a:off x="793790" y="50301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administrative overhead by up to 70%</a:t>
            </a:r>
            <a:endParaRPr lang="en-US" sz="1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1219FE9-14A0-642A-AA69-47FFBF20777D}"/>
              </a:ext>
            </a:extLst>
          </p:cNvPr>
          <p:cNvSpPr/>
          <p:nvPr/>
        </p:nvSpPr>
        <p:spPr>
          <a:xfrm>
            <a:off x="793790" y="58352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Analytics-driven decisions from real-time reports and insights</a:t>
            </a:r>
            <a:endParaRPr lang="en-US" sz="17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26FE802-FAC9-1C94-A5BA-3A18411252A5}"/>
              </a:ext>
            </a:extLst>
          </p:cNvPr>
          <p:cNvSpPr/>
          <p:nvPr/>
        </p:nvSpPr>
        <p:spPr>
          <a:xfrm>
            <a:off x="5264229" y="2855119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2B60B4DA-3834-DF81-383A-2B94BBE0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577" y="3029069"/>
            <a:ext cx="283488" cy="22681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A57C9B8-3809-E36D-F337-1150A6262EF2}"/>
              </a:ext>
            </a:extLst>
          </p:cNvPr>
          <p:cNvSpPr/>
          <p:nvPr/>
        </p:nvSpPr>
        <p:spPr>
          <a:xfrm>
            <a:off x="5235893" y="37168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Recruiters</a:t>
            </a:r>
            <a:endParaRPr lang="en-US" sz="2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B74F878-62AD-400C-51CD-3EC5BB2CDA32}"/>
              </a:ext>
            </a:extLst>
          </p:cNvPr>
          <p:cNvSpPr/>
          <p:nvPr/>
        </p:nvSpPr>
        <p:spPr>
          <a:xfrm>
            <a:off x="5235893" y="42250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pre-verified, high-quality candidate data instantly</a:t>
            </a:r>
            <a:endParaRPr lang="en-US" sz="17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B5D7A23-EF57-ECF8-6F56-A9F8BFC18622}"/>
              </a:ext>
            </a:extLst>
          </p:cNvPr>
          <p:cNvSpPr/>
          <p:nvPr/>
        </p:nvSpPr>
        <p:spPr>
          <a:xfrm>
            <a:off x="5235893" y="50301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Streamlined communication through single point of contact</a:t>
            </a:r>
            <a:endParaRPr lang="en-US" sz="1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B5B7E17-FFE1-3C03-F027-452BC4BC97FB}"/>
              </a:ext>
            </a:extLst>
          </p:cNvPr>
          <p:cNvSpPr/>
          <p:nvPr/>
        </p:nvSpPr>
        <p:spPr>
          <a:xfrm>
            <a:off x="5235893" y="58352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hiring process with qualified applicants only</a:t>
            </a:r>
            <a:endParaRPr lang="en-US" sz="17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014E7CE-8EB2-ED7D-E701-FF2C55AF00EE}"/>
              </a:ext>
            </a:extLst>
          </p:cNvPr>
          <p:cNvSpPr/>
          <p:nvPr/>
        </p:nvSpPr>
        <p:spPr>
          <a:xfrm>
            <a:off x="9706332" y="2855119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>
            <a:extLst>
              <a:ext uri="{FF2B5EF4-FFF2-40B4-BE49-F238E27FC236}">
                <a16:creationId xmlns:a16="http://schemas.microsoft.com/office/drawing/2014/main" id="{8FBD3475-ACAE-DF3A-FFEB-09BD503BA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680" y="3029069"/>
            <a:ext cx="283488" cy="22681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C396AB5-3FBA-2C51-4511-087A8CE9D2F8}"/>
              </a:ext>
            </a:extLst>
          </p:cNvPr>
          <p:cNvSpPr/>
          <p:nvPr/>
        </p:nvSpPr>
        <p:spPr>
          <a:xfrm>
            <a:off x="9677995" y="37168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Institution</a:t>
            </a:r>
            <a:endParaRPr lang="en-US" sz="23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A8E6202-2ABA-6B8D-990C-99B2392CBB36}"/>
              </a:ext>
            </a:extLst>
          </p:cNvPr>
          <p:cNvSpPr/>
          <p:nvPr/>
        </p:nvSpPr>
        <p:spPr>
          <a:xfrm>
            <a:off x="9677995" y="422505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reputation with modern, efficient placement process</a:t>
            </a:r>
            <a:endParaRPr lang="en-US" sz="17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1093F02-0296-537B-583F-8C73DC7FD103}"/>
              </a:ext>
            </a:extLst>
          </p:cNvPr>
          <p:cNvSpPr/>
          <p:nvPr/>
        </p:nvSpPr>
        <p:spPr>
          <a:xfrm>
            <a:off x="9677995" y="50301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 architecture grows with institutional needs</a:t>
            </a:r>
            <a:endParaRPr lang="en-US" sz="175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BDEFB4-ACCD-529C-076E-646A29ECFD69}"/>
              </a:ext>
            </a:extLst>
          </p:cNvPr>
          <p:cNvSpPr/>
          <p:nvPr/>
        </p:nvSpPr>
        <p:spPr>
          <a:xfrm>
            <a:off x="9677995" y="583525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Enhanced data security and compliance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035288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75DFCA-91A3-9461-915C-27F9D3897180}"/>
              </a:ext>
            </a:extLst>
          </p:cNvPr>
          <p:cNvSpPr/>
          <p:nvPr/>
        </p:nvSpPr>
        <p:spPr>
          <a:xfrm>
            <a:off x="793790" y="1509652"/>
            <a:ext cx="1015067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Transforming Placement Management</a:t>
            </a:r>
            <a:endParaRPr lang="en-US" sz="46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9A8614-A764-4F43-70D3-85EBE6A1D2E4}"/>
              </a:ext>
            </a:extLst>
          </p:cNvPr>
          <p:cNvSpPr/>
          <p:nvPr/>
        </p:nvSpPr>
        <p:spPr>
          <a:xfrm>
            <a:off x="793790" y="270754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Administrator Module transforms the manual placement process into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secure, automated, and data-driven system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benefits all stakeholders.</a:t>
            </a:r>
            <a:endParaRPr lang="en-US" sz="1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044118-1330-B5FF-0A76-5031E267B661}"/>
              </a:ext>
            </a:extLst>
          </p:cNvPr>
          <p:cNvSpPr/>
          <p:nvPr/>
        </p:nvSpPr>
        <p:spPr>
          <a:xfrm>
            <a:off x="793790" y="3688496"/>
            <a:ext cx="13042821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66E714-6E62-1735-EB6A-9A9F68FBDAE7}"/>
              </a:ext>
            </a:extLst>
          </p:cNvPr>
          <p:cNvSpPr/>
          <p:nvPr/>
        </p:nvSpPr>
        <p:spPr>
          <a:xfrm>
            <a:off x="793790" y="3688496"/>
            <a:ext cx="4347567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98086A-F140-76C5-38D1-909EE0EEFA72}"/>
              </a:ext>
            </a:extLst>
          </p:cNvPr>
          <p:cNvSpPr/>
          <p:nvPr/>
        </p:nvSpPr>
        <p:spPr>
          <a:xfrm>
            <a:off x="1020604" y="39153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Integrated Solution</a:t>
            </a:r>
            <a:endParaRPr lang="en-US" sz="2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1FA96E-E75B-D11C-016D-1B7695854EF1}"/>
              </a:ext>
            </a:extLst>
          </p:cNvPr>
          <p:cNvSpPr/>
          <p:nvPr/>
        </p:nvSpPr>
        <p:spPr>
          <a:xfrm>
            <a:off x="1020604" y="442346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management, Google Form automation, and Master Data Sheet work seamlessly together</a:t>
            </a:r>
            <a:endParaRPr lang="en-US" sz="1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486703-9585-4BA8-31C5-4C61B2F2A895}"/>
              </a:ext>
            </a:extLst>
          </p:cNvPr>
          <p:cNvSpPr/>
          <p:nvPr/>
        </p:nvSpPr>
        <p:spPr>
          <a:xfrm>
            <a:off x="5141357" y="3688496"/>
            <a:ext cx="4347567" cy="2050494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51C5914-8E4B-87BF-F59E-E2352ABCF4FB}"/>
              </a:ext>
            </a:extLst>
          </p:cNvPr>
          <p:cNvSpPr/>
          <p:nvPr/>
        </p:nvSpPr>
        <p:spPr>
          <a:xfrm>
            <a:off x="5141357" y="3688496"/>
            <a:ext cx="30480" cy="205049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9DC2E8-172D-F22B-D26F-CD05F639C7E2}"/>
              </a:ext>
            </a:extLst>
          </p:cNvPr>
          <p:cNvSpPr/>
          <p:nvPr/>
        </p:nvSpPr>
        <p:spPr>
          <a:xfrm>
            <a:off x="5368171" y="39153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Proven Reliability</a:t>
            </a:r>
            <a:endParaRPr lang="en-US" sz="2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02DA4B4-207F-809A-EC57-887074506DE9}"/>
              </a:ext>
            </a:extLst>
          </p:cNvPr>
          <p:cNvSpPr/>
          <p:nvPr/>
        </p:nvSpPr>
        <p:spPr>
          <a:xfrm>
            <a:off x="5368171" y="442346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Stress tested at 183.6 RPS with 500 concurrent users and only 1% failure rate</a:t>
            </a:r>
            <a:endParaRPr lang="en-US" sz="1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A3EBC38-DF2F-1FAE-1C02-594A178DBD26}"/>
              </a:ext>
            </a:extLst>
          </p:cNvPr>
          <p:cNvSpPr/>
          <p:nvPr/>
        </p:nvSpPr>
        <p:spPr>
          <a:xfrm>
            <a:off x="9488924" y="3688496"/>
            <a:ext cx="4347567" cy="2050494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27630A-3A9D-406C-F6BB-A6DEBA8AF4E3}"/>
              </a:ext>
            </a:extLst>
          </p:cNvPr>
          <p:cNvSpPr/>
          <p:nvPr/>
        </p:nvSpPr>
        <p:spPr>
          <a:xfrm>
            <a:off x="9488924" y="3688496"/>
            <a:ext cx="30480" cy="2050494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4A4D23-D513-820E-E693-70F568BADDD7}"/>
              </a:ext>
            </a:extLst>
          </p:cNvPr>
          <p:cNvSpPr/>
          <p:nvPr/>
        </p:nvSpPr>
        <p:spPr>
          <a:xfrm>
            <a:off x="9715738" y="391531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Ready for Scale</a:t>
            </a:r>
            <a:endParaRPr lang="en-US" sz="2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ED36D4B-B132-0574-35DC-76BAF30B48BC}"/>
              </a:ext>
            </a:extLst>
          </p:cNvPr>
          <p:cNvSpPr/>
          <p:nvPr/>
        </p:nvSpPr>
        <p:spPr>
          <a:xfrm>
            <a:off x="9715738" y="4423469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on modern architecture designed to grow with your institution's needs</a:t>
            </a:r>
            <a:endParaRPr lang="en-US" sz="17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A97DFE-6C4A-8434-392F-4C05C7DEB6E0}"/>
              </a:ext>
            </a:extLst>
          </p:cNvPr>
          <p:cNvSpPr/>
          <p:nvPr/>
        </p:nvSpPr>
        <p:spPr>
          <a:xfrm>
            <a:off x="793790" y="59941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system empowers placement coordinators to focus on strategic initiatives rather than manual data management, ultimately leading to better outcomes for students and stronger relationships with recruiting companies.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71303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1252</Words>
  <Application>Microsoft Office PowerPoint</Application>
  <PresentationFormat>Custom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DM Sans</vt:lpstr>
      <vt:lpstr>PT Serif</vt:lpstr>
      <vt:lpstr>PT Serif Light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Rineet Pandey</cp:lastModifiedBy>
  <cp:revision>2</cp:revision>
  <dcterms:created xsi:type="dcterms:W3CDTF">2025-10-26T17:13:50Z</dcterms:created>
  <dcterms:modified xsi:type="dcterms:W3CDTF">2025-10-26T19:15:03Z</dcterms:modified>
</cp:coreProperties>
</file>